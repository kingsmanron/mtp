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2c9ac59eef4a57" /><Relationship Type="http://schemas.openxmlformats.org/officeDocument/2006/relationships/extended-properties" Target="/docProps/app.xml" Id="R4192abc58dd34e52" /><Relationship Type="http://schemas.openxmlformats.org/officeDocument/2006/relationships/officeDocument" Target="/ppt/presentation.xml" Id="R526f1974dc3d490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848af1c9a5e46db"/>
  </p:sldMasterIdLst>
  <p:notesMasterIdLst>
    <p:notesMasterId xmlns:r="http://schemas.openxmlformats.org/officeDocument/2006/relationships" r:id="Rbdba1fa3f7b94aa1"/>
  </p:notesMasterIdLst>
  <p:sldIdLst>
    <p:sldId xmlns:r="http://schemas.openxmlformats.org/officeDocument/2006/relationships" id="256" r:id="Rb338a17ebf2e499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e4d3c9e1e844192" /><Relationship Type="http://schemas.openxmlformats.org/officeDocument/2006/relationships/slideMaster" Target="/ppt/slideMasters/slideMaster1.xml" Id="Ra848af1c9a5e46db" /><Relationship Type="http://schemas.openxmlformats.org/officeDocument/2006/relationships/notesMaster" Target="/ppt/notesMasters/notesMaster1.xml" Id="Rbdba1fa3f7b94aa1" /><Relationship Type="http://schemas.openxmlformats.org/officeDocument/2006/relationships/presProps" Target="/ppt/presProps.xml" Id="R1a437d8ac6584ffd" /><Relationship Type="http://schemas.openxmlformats.org/officeDocument/2006/relationships/tableStyles" Target="/ppt/tableStyles.xml" Id="Re94174ab095a4148" /><Relationship Type="http://schemas.openxmlformats.org/officeDocument/2006/relationships/slide" Target="/ppt/slides/slide1.xml" Id="Rb338a17ebf2e499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f3a8f27f72644a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7e545d8e134d54" /><Relationship Type="http://schemas.openxmlformats.org/officeDocument/2006/relationships/notesMaster" Target="/ppt/notesMasters/notesMaster1.xml" Id="R0558ad744c07413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508bd0fec1461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3f6ce1c55c64f8b" /><Relationship Type="http://schemas.openxmlformats.org/officeDocument/2006/relationships/slideLayout" Target="/ppt/slideLayouts/slideLayout1.xml" Id="Ra1a4542ff3454d0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1a4542ff3454d0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297967036240a9" /><Relationship Type="http://schemas.openxmlformats.org/officeDocument/2006/relationships/notesSlide" Target="/ppt/notesSlides/notesSlide1.xml" Id="R23614a1620e54e2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canvas">
            <a:extLst xmlns:a="http://schemas.openxmlformats.org/drawingml/2006/main">
              <a:ext uri="{FF2B5EF4-FFF2-40B4-BE49-F238E27FC236}">
                <a16:creationId xmlns:a16="http://schemas.microsoft.com/office/drawing/2014/main" id="{5A7FE704-0049-422D-9D29-587096EC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6E8124C3-7E17-41C5-921F-601175850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"/>
            <a:ext cx="8763000" cy="20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CORDANT × INNTRIS REFERENCE ARCHITECTURE  |  CORDANT ADAPTER PROPOSED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CD784A14-1F48-478D-9509-212ECE39E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9575"/>
            <a:ext cx="112014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Inntris authorises the action. The executor enforces it.
Inntris Verify checks the evidence.</a:t>
            </a:r>
          </a:p>
        </p:txBody>
      </p:sp>
      <p:sp>
        <p:nvSpPr>
          <p:cNvPr id="4" name="subhead">
            <a:extLst xmlns:a="http://schemas.openxmlformats.org/drawingml/2006/main">
              <a:ext uri="{FF2B5EF4-FFF2-40B4-BE49-F238E27FC236}">
                <a16:creationId xmlns:a16="http://schemas.microsoft.com/office/drawing/2014/main" id="{BFE5D7EF-36F4-4E1C-9108-DF9E4223B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33475"/>
            <a:ext cx="109061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895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Cordant supplies the proposed context; Inntris MTP returns an allow or deny decision; the executor enforces it;
an operator-signed evidence pack can be verified offline without calling Inntris.</a:t>
            </a:r>
          </a:p>
        </p:txBody>
      </p:sp>
      <p:cxnSp>
        <p:nvCxnSpPr>
          <p:cNvPr id="84" name="title-rule"/>
          <p:cNvCxnSpPr/>
          <p:nvPr/>
        </p:nvCxnSpPr>
        <p:spPr>
          <a:xfrm xmlns:a="http://schemas.openxmlformats.org/drawingml/2006/main">
            <a:off x="495300" y="1543050"/>
            <a:ext cx="112014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B0F14"/>
            </a:solidFill>
            <a:prstDash val="solid"/>
          </a:ln>
        </p:spPr>
      </p:cxnSp>
      <p:sp>
        <p:nvSpPr>
          <p:cNvPr id="6" name="intent-flow-caption">
            <a:extLst xmlns:a="http://schemas.openxmlformats.org/drawingml/2006/main">
              <a:ext uri="{FF2B5EF4-FFF2-40B4-BE49-F238E27FC236}">
                <a16:creationId xmlns:a16="http://schemas.microsoft.com/office/drawing/2014/main" id="{E7964F7B-A60F-44B9-A98F-338E4FBF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314575"/>
            <a:ext cx="476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66516"/>
          </a:bodyPr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SIGNED ACTION
INTENT</a:t>
            </a:r>
          </a:p>
        </p:txBody>
      </p:sp>
      <p:sp>
        <p:nvSpPr>
          <p:cNvPr id="7" name="intent-flow-arrow">
            <a:extLst xmlns:a="http://schemas.openxmlformats.org/drawingml/2006/main">
              <a:ext uri="{FF2B5EF4-FFF2-40B4-BE49-F238E27FC236}">
                <a16:creationId xmlns:a16="http://schemas.microsoft.com/office/drawing/2014/main" id="{23AC2BB5-E7A2-42F7-A8D1-0E94D5620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571750"/>
            <a:ext cx="476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→</a:t>
            </a:r>
          </a:p>
        </p:txBody>
      </p:sp>
      <p:sp>
        <p:nvSpPr>
          <p:cNvPr id="8" name="decision-flow-caption">
            <a:extLst xmlns:a="http://schemas.openxmlformats.org/drawingml/2006/main">
              <a:ext uri="{FF2B5EF4-FFF2-40B4-BE49-F238E27FC236}">
                <a16:creationId xmlns:a16="http://schemas.microsoft.com/office/drawing/2014/main" id="{418718AC-1B8F-45F1-95C9-C49EC3D2C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14575"/>
            <a:ext cx="4762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70966"/>
          </a:bodyPr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ALLOW TOKEN
OR DENY</a:t>
            </a:r>
          </a:p>
        </p:txBody>
      </p:sp>
      <p:sp>
        <p:nvSpPr>
          <p:cNvPr id="9" name="decision-flow-arrow">
            <a:extLst xmlns:a="http://schemas.openxmlformats.org/drawingml/2006/main">
              <a:ext uri="{FF2B5EF4-FFF2-40B4-BE49-F238E27FC236}">
                <a16:creationId xmlns:a16="http://schemas.microsoft.com/office/drawing/2014/main" id="{885F9BDF-6178-4F35-B16F-3C2410645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571750"/>
            <a:ext cx="476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→</a:t>
            </a:r>
          </a:p>
        </p:txBody>
      </p:sp>
      <p:sp>
        <p:nvSpPr>
          <p:cNvPr id="10" name="cordant-panel">
            <a:extLst xmlns:a="http://schemas.openxmlformats.org/drawingml/2006/main">
              <a:ext uri="{FF2B5EF4-FFF2-40B4-BE49-F238E27FC236}">
                <a16:creationId xmlns:a16="http://schemas.microsoft.com/office/drawing/2014/main" id="{0439DE9A-9C95-4AD0-B8C5-2A1B84B62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57350"/>
            <a:ext cx="266700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318"/>
          </a:solidFill>
          <a:ln xmlns:a="http://schemas.openxmlformats.org/drawingml/2006/main" w="0">
            <a:solidFill>
              <a:srgbClr val="101318"/>
            </a:solidFill>
            <a:prstDash val="solid"/>
          </a:ln>
        </p:spPr>
      </p:sp>
      <p:sp>
        <p:nvSpPr>
          <p:cNvPr id="11" name="cordant-accent">
            <a:extLst xmlns:a="http://schemas.openxmlformats.org/drawingml/2006/main">
              <a:ext uri="{FF2B5EF4-FFF2-40B4-BE49-F238E27FC236}">
                <a16:creationId xmlns:a16="http://schemas.microsoft.com/office/drawing/2014/main" id="{0DC2992C-DA79-4072-8806-AC6AB8239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57350"/>
            <a:ext cx="66675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12" name="cordant-plane">
            <a:extLst xmlns:a="http://schemas.openxmlformats.org/drawingml/2006/main">
              <a:ext uri="{FF2B5EF4-FFF2-40B4-BE49-F238E27FC236}">
                <a16:creationId xmlns:a16="http://schemas.microsoft.com/office/drawing/2014/main" id="{D9A805EA-04B6-4B40-9926-306147C6F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00225"/>
            <a:ext cx="2190750" cy="18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t>PROPOSED CONTEXT ADAPTER</a:t>
            </a:r>
          </a:p>
        </p:txBody>
      </p:sp>
      <p:sp>
        <p:nvSpPr>
          <p:cNvPr id="13" name="cordant-title">
            <a:extLst xmlns:a="http://schemas.openxmlformats.org/drawingml/2006/main">
              <a:ext uri="{FF2B5EF4-FFF2-40B4-BE49-F238E27FC236}">
                <a16:creationId xmlns:a16="http://schemas.microsoft.com/office/drawing/2014/main" id="{5C832027-CE04-44F8-846F-AB51F7A3B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019300"/>
            <a:ext cx="219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CORDANT</a:t>
            </a:r>
          </a:p>
        </p:txBody>
      </p:sp>
      <p:cxnSp>
        <p:nvCxnSpPr>
          <p:cNvPr id="93" name="cordant-rule"/>
          <p:cNvCxnSpPr/>
          <p:nvPr/>
        </p:nvCxnSpPr>
        <p:spPr>
          <a:xfrm xmlns:a="http://schemas.openxmlformats.org/drawingml/2006/main">
            <a:off x="733425" y="2371725"/>
            <a:ext cx="219075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94251"/>
            </a:solidFill>
            <a:prstDash val="solid"/>
          </a:ln>
        </p:spPr>
      </p:cxnSp>
      <p:sp>
        <p:nvSpPr>
          <p:cNvPr id="15" name="cordant-connect-dot">
            <a:extLst xmlns:a="http://schemas.openxmlformats.org/drawingml/2006/main">
              <a:ext uri="{FF2B5EF4-FFF2-40B4-BE49-F238E27FC236}">
                <a16:creationId xmlns:a16="http://schemas.microsoft.com/office/drawing/2014/main" id="{5829435B-9AFF-4911-A4CE-916DC982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5431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16" name="cordant-connect-text">
            <a:extLst xmlns:a="http://schemas.openxmlformats.org/drawingml/2006/main">
              <a:ext uri="{FF2B5EF4-FFF2-40B4-BE49-F238E27FC236}">
                <a16:creationId xmlns:a16="http://schemas.microsoft.com/office/drawing/2014/main" id="{8AE5867B-6E8A-4303-AFD7-E35DFC47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66975"/>
            <a:ext cx="20288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9E0E9"/>
                </a:solidFill>
                <a:latin typeface="Arial"/>
                <a:ea typeface="Arial"/>
                <a:cs typeface="Arial"/>
              </a:defRPr>
            </a:pPr>
            <a:r>
              <a:t>Connect financial systems</a:t>
            </a:r>
          </a:p>
        </p:txBody>
      </p:sp>
      <p:sp>
        <p:nvSpPr>
          <p:cNvPr id="17" name="cordant-normalise-dot">
            <a:extLst xmlns:a="http://schemas.openxmlformats.org/drawingml/2006/main">
              <a:ext uri="{FF2B5EF4-FFF2-40B4-BE49-F238E27FC236}">
                <a16:creationId xmlns:a16="http://schemas.microsoft.com/office/drawing/2014/main" id="{9DCCD2A9-F862-4F74-947B-84B25F32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38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18" name="cordant-normalise-text">
            <a:extLst xmlns:a="http://schemas.openxmlformats.org/drawingml/2006/main">
              <a:ext uri="{FF2B5EF4-FFF2-40B4-BE49-F238E27FC236}">
                <a16:creationId xmlns:a16="http://schemas.microsoft.com/office/drawing/2014/main" id="{205E1AC7-1532-47EA-BFF7-2AE90F2FC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62250"/>
            <a:ext cx="20288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8284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9E0E9"/>
                </a:solidFill>
                <a:latin typeface="Arial"/>
                <a:ea typeface="Arial"/>
                <a:cs typeface="Arial"/>
              </a:defRPr>
            </a:pPr>
            <a:r>
              <a:t>Normalise and correlate states</a:t>
            </a:r>
          </a:p>
        </p:txBody>
      </p:sp>
      <p:sp>
        <p:nvSpPr>
          <p:cNvPr id="19" name="cordant-propose-dot">
            <a:extLst xmlns:a="http://schemas.openxmlformats.org/drawingml/2006/main">
              <a:ext uri="{FF2B5EF4-FFF2-40B4-BE49-F238E27FC236}">
                <a16:creationId xmlns:a16="http://schemas.microsoft.com/office/drawing/2014/main" id="{0D6CAA68-DE2D-4BF5-8544-743B4605C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1337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20" name="cordant-propose-text">
            <a:extLst xmlns:a="http://schemas.openxmlformats.org/drawingml/2006/main">
              <a:ext uri="{FF2B5EF4-FFF2-40B4-BE49-F238E27FC236}">
                <a16:creationId xmlns:a16="http://schemas.microsoft.com/office/drawing/2014/main" id="{7F9A7E0A-9BB1-43F1-9E4F-62620A6FF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57525"/>
            <a:ext cx="20288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9E0E9"/>
                </a:solidFill>
                <a:latin typeface="Arial"/>
                <a:ea typeface="Arial"/>
                <a:cs typeface="Arial"/>
              </a:defRPr>
            </a:pPr>
            <a:r>
              <a:t>Propose the guarded action</a:t>
            </a:r>
          </a:p>
        </p:txBody>
      </p:sp>
      <p:sp>
        <p:nvSpPr>
          <p:cNvPr id="21" name="cordant-boundary">
            <a:extLst xmlns:a="http://schemas.openxmlformats.org/drawingml/2006/main">
              <a:ext uri="{FF2B5EF4-FFF2-40B4-BE49-F238E27FC236}">
                <a16:creationId xmlns:a16="http://schemas.microsoft.com/office/drawing/2014/main" id="{17F05388-39AF-4DE7-B1B2-1284625E6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438525"/>
            <a:ext cx="2190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NOT PRESENT IN MTP CODE</a:t>
            </a:r>
          </a:p>
        </p:txBody>
      </p:sp>
      <p:sp>
        <p:nvSpPr>
          <p:cNvPr id="22" name="mtp-panel">
            <a:extLst xmlns:a="http://schemas.openxmlformats.org/drawingml/2006/main">
              <a:ext uri="{FF2B5EF4-FFF2-40B4-BE49-F238E27FC236}">
                <a16:creationId xmlns:a16="http://schemas.microsoft.com/office/drawing/2014/main" id="{105203A7-4BCE-40DF-854C-D9EBAE89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657350"/>
            <a:ext cx="381000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D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23" name="mtp-accent">
            <a:extLst xmlns:a="http://schemas.openxmlformats.org/drawingml/2006/main">
              <a:ext uri="{FF2B5EF4-FFF2-40B4-BE49-F238E27FC236}">
                <a16:creationId xmlns:a16="http://schemas.microsoft.com/office/drawing/2014/main" id="{FB9D8840-970F-44C7-9AB0-52A8C23E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657350"/>
            <a:ext cx="7620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4" name="mtp-plane">
            <a:extLst xmlns:a="http://schemas.openxmlformats.org/drawingml/2006/main">
              <a:ext uri="{FF2B5EF4-FFF2-40B4-BE49-F238E27FC236}">
                <a16:creationId xmlns:a16="http://schemas.microsoft.com/office/drawing/2014/main" id="{FFFF4F79-EA51-4AB3-A8D7-1B527423A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800225"/>
            <a:ext cx="3257550" cy="18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A5672"/>
                </a:solidFill>
                <a:latin typeface="Arial"/>
                <a:ea typeface="Arial"/>
                <a:cs typeface="Arial"/>
              </a:defRPr>
            </a:pPr>
            <a:r>
              <a:t>IMPLEMENTED LIVE CONTROL PATH</a:t>
            </a:r>
          </a:p>
        </p:txBody>
      </p:sp>
      <p:sp>
        <p:nvSpPr>
          <p:cNvPr id="25" name="mtp-title">
            <a:extLst xmlns:a="http://schemas.openxmlformats.org/drawingml/2006/main">
              <a:ext uri="{FF2B5EF4-FFF2-40B4-BE49-F238E27FC236}">
                <a16:creationId xmlns:a16="http://schemas.microsoft.com/office/drawing/2014/main" id="{17B4F8FE-A969-481B-873F-8742CEF8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19300"/>
            <a:ext cx="32575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INNTRIS MTP</a:t>
            </a:r>
          </a:p>
        </p:txBody>
      </p:sp>
      <p:cxnSp>
        <p:nvCxnSpPr>
          <p:cNvPr id="105" name="mtp-rule"/>
          <p:cNvCxnSpPr/>
          <p:nvPr/>
        </p:nvCxnSpPr>
        <p:spPr>
          <a:xfrm xmlns:a="http://schemas.openxmlformats.org/drawingml/2006/main">
            <a:off x="3905250" y="2371725"/>
            <a:ext cx="325755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CDCF4"/>
            </a:solidFill>
            <a:prstDash val="solid"/>
          </a:ln>
        </p:spPr>
      </p:cxnSp>
      <p:sp>
        <p:nvSpPr>
          <p:cNvPr id="27" name="mtp-route-dot">
            <a:extLst xmlns:a="http://schemas.openxmlformats.org/drawingml/2006/main">
              <a:ext uri="{FF2B5EF4-FFF2-40B4-BE49-F238E27FC236}">
                <a16:creationId xmlns:a16="http://schemas.microsoft.com/office/drawing/2014/main" id="{D8088DBC-A855-4BF2-BAD8-8B8C8B1E1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431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8" name="mtp-route-text">
            <a:extLst xmlns:a="http://schemas.openxmlformats.org/drawingml/2006/main">
              <a:ext uri="{FF2B5EF4-FFF2-40B4-BE49-F238E27FC236}">
                <a16:creationId xmlns:a16="http://schemas.microsoft.com/office/drawing/2014/main" id="{A07FEA7C-DF18-4C5F-9A48-C93E6F16A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466975"/>
            <a:ext cx="30956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POST /verify</a:t>
            </a:r>
          </a:p>
        </p:txBody>
      </p:sp>
      <p:sp>
        <p:nvSpPr>
          <p:cNvPr id="29" name="mtp-checks-dot">
            <a:extLst xmlns:a="http://schemas.openxmlformats.org/drawingml/2006/main">
              <a:ext uri="{FF2B5EF4-FFF2-40B4-BE49-F238E27FC236}">
                <a16:creationId xmlns:a16="http://schemas.microsoft.com/office/drawing/2014/main" id="{349D847D-E1AB-43F9-BCEC-22E0AFFD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38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30" name="mtp-checks-text">
            <a:extLst xmlns:a="http://schemas.openxmlformats.org/drawingml/2006/main">
              <a:ext uri="{FF2B5EF4-FFF2-40B4-BE49-F238E27FC236}">
                <a16:creationId xmlns:a16="http://schemas.microsoft.com/office/drawing/2014/main" id="{AE2EBB54-CC26-4AE7-9772-160C85E6B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762250"/>
            <a:ext cx="30956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Ed25519, replay, policy and limits</a:t>
            </a:r>
          </a:p>
        </p:txBody>
      </p:sp>
      <p:sp>
        <p:nvSpPr>
          <p:cNvPr id="31" name="mtp-decision-dot">
            <a:extLst xmlns:a="http://schemas.openxmlformats.org/drawingml/2006/main">
              <a:ext uri="{FF2B5EF4-FFF2-40B4-BE49-F238E27FC236}">
                <a16:creationId xmlns:a16="http://schemas.microsoft.com/office/drawing/2014/main" id="{212E3F1E-B11E-441C-A15A-011C67108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1337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32" name="mtp-decision-text">
            <a:extLst xmlns:a="http://schemas.openxmlformats.org/drawingml/2006/main">
              <a:ext uri="{FF2B5EF4-FFF2-40B4-BE49-F238E27FC236}">
                <a16:creationId xmlns:a16="http://schemas.microsoft.com/office/drawing/2014/main" id="{BC459645-3B05-44CA-B58D-5C1D8EEFF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3057525"/>
            <a:ext cx="30956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Approval token + audit ID, or deny</a:t>
            </a:r>
          </a:p>
        </p:txBody>
      </p:sp>
      <p:sp>
        <p:nvSpPr>
          <p:cNvPr id="33" name="mtp-invalid">
            <a:extLst xmlns:a="http://schemas.openxmlformats.org/drawingml/2006/main">
              <a:ext uri="{FF2B5EF4-FFF2-40B4-BE49-F238E27FC236}">
                <a16:creationId xmlns:a16="http://schemas.microsoft.com/office/drawing/2014/main" id="{C2849EA3-FAE8-48FF-A62C-D185283C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38525"/>
            <a:ext cx="3257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5672"/>
                </a:solidFill>
                <a:latin typeface="Arial"/>
                <a:ea typeface="Arial"/>
                <a:cs typeface="Arial"/>
              </a:defRPr>
            </a:pPr>
            <a:r>
              <a:t>Invalid signature: 401 and no audit insert</a:t>
            </a:r>
          </a:p>
        </p:txBody>
      </p:sp>
      <p:sp>
        <p:nvSpPr>
          <p:cNvPr id="34" name="execution-panel">
            <a:extLst xmlns:a="http://schemas.openxmlformats.org/drawingml/2006/main">
              <a:ext uri="{FF2B5EF4-FFF2-40B4-BE49-F238E27FC236}">
                <a16:creationId xmlns:a16="http://schemas.microsoft.com/office/drawing/2014/main" id="{4069CA67-DFBA-445A-8DE0-967F0AF7D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657350"/>
            <a:ext cx="377190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BC2CC"/>
            </a:solidFill>
            <a:prstDash val="solid"/>
          </a:ln>
        </p:spPr>
      </p:sp>
      <p:sp>
        <p:nvSpPr>
          <p:cNvPr id="35" name="execution-plane">
            <a:extLst xmlns:a="http://schemas.openxmlformats.org/drawingml/2006/main">
              <a:ext uri="{FF2B5EF4-FFF2-40B4-BE49-F238E27FC236}">
                <a16:creationId xmlns:a16="http://schemas.microsoft.com/office/drawing/2014/main" id="{5D590DE4-E06D-401E-83F7-2CE87C547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00225"/>
            <a:ext cx="3276600" cy="18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EXECUTOR INTEGRATION REQUIRED</a:t>
            </a:r>
          </a:p>
        </p:txBody>
      </p:sp>
      <p:sp>
        <p:nvSpPr>
          <p:cNvPr id="36" name="execution-title">
            <a:extLst xmlns:a="http://schemas.openxmlformats.org/drawingml/2006/main">
              <a:ext uri="{FF2B5EF4-FFF2-40B4-BE49-F238E27FC236}">
                <a16:creationId xmlns:a16="http://schemas.microsoft.com/office/drawing/2014/main" id="{95E6FDC1-0EBA-48B6-A6A3-025BB928B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19300"/>
            <a:ext cx="3276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EXECUTION GATE</a:t>
            </a:r>
          </a:p>
        </p:txBody>
      </p:sp>
      <p:cxnSp>
        <p:nvCxnSpPr>
          <p:cNvPr id="116" name="execution-rule"/>
          <p:cNvCxnSpPr/>
          <p:nvPr/>
        </p:nvCxnSpPr>
        <p:spPr>
          <a:xfrm xmlns:a="http://schemas.openxmlformats.org/drawingml/2006/main">
            <a:off x="8172450" y="2371725"/>
            <a:ext cx="32766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BC2CC"/>
            </a:solidFill>
            <a:prstDash val="solid"/>
          </a:ln>
        </p:spPr>
      </p:cxnSp>
      <p:sp>
        <p:nvSpPr>
          <p:cNvPr id="38" name="execution-route">
            <a:extLst xmlns:a="http://schemas.openxmlformats.org/drawingml/2006/main">
              <a:ext uri="{FF2B5EF4-FFF2-40B4-BE49-F238E27FC236}">
                <a16:creationId xmlns:a16="http://schemas.microsoft.com/office/drawing/2014/main" id="{A9D84C84-BEB6-47FB-A238-D5263461B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57450"/>
            <a:ext cx="3276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A5672"/>
                </a:solidFill>
                <a:latin typeface="Arial"/>
                <a:ea typeface="Arial"/>
                <a:cs typeface="Arial"/>
              </a:defRPr>
            </a:pPr>
            <a:r>
              <a:t>POST /verify-token</a:t>
            </a:r>
          </a:p>
        </p:txBody>
      </p:sp>
      <p:sp>
        <p:nvSpPr>
          <p:cNvPr id="39" name="execution-inputs">
            <a:extLst xmlns:a="http://schemas.openxmlformats.org/drawingml/2006/main">
              <a:ext uri="{FF2B5EF4-FFF2-40B4-BE49-F238E27FC236}">
                <a16:creationId xmlns:a16="http://schemas.microsoft.com/office/drawing/2014/main" id="{383300A1-BD1C-41E1-BF2C-ED0E0D20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62250"/>
            <a:ext cx="3276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Forward exact action inputs + consume: true</a:t>
            </a:r>
          </a:p>
        </p:txBody>
      </p:sp>
      <p:sp>
        <p:nvSpPr>
          <p:cNvPr id="40" name="execution-proceed">
            <a:extLst xmlns:a="http://schemas.openxmlformats.org/drawingml/2006/main">
              <a:ext uri="{FF2B5EF4-FFF2-40B4-BE49-F238E27FC236}">
                <a16:creationId xmlns:a16="http://schemas.microsoft.com/office/drawing/2014/main" id="{98912F8E-BFE6-47A2-AEBC-C8E34EDFE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48000"/>
            <a:ext cx="32766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Execute only when valid: true</a:t>
            </a:r>
          </a:p>
        </p:txBody>
      </p:sp>
      <p:sp>
        <p:nvSpPr>
          <p:cNvPr id="41" name="execution-stop">
            <a:extLst xmlns:a="http://schemas.openxmlformats.org/drawingml/2006/main">
              <a:ext uri="{FF2B5EF4-FFF2-40B4-BE49-F238E27FC236}">
                <a16:creationId xmlns:a16="http://schemas.microsoft.com/office/drawing/2014/main" id="{E7C42471-73E2-4FC0-BB0E-AEFB0158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52800"/>
            <a:ext cx="32766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86309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Otherwise stop. The executor creates the enforcement boundary.</a:t>
            </a:r>
          </a:p>
        </p:txBody>
      </p:sp>
      <p:sp>
        <p:nvSpPr>
          <p:cNvPr id="42" name="callback-label">
            <a:extLst xmlns:a="http://schemas.openxmlformats.org/drawingml/2006/main">
              <a:ext uri="{FF2B5EF4-FFF2-40B4-BE49-F238E27FC236}">
                <a16:creationId xmlns:a16="http://schemas.microsoft.com/office/drawing/2014/main" id="{9BF738CF-1E0C-455F-81E4-5365B34F5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86200"/>
            <a:ext cx="2667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318"/>
          </a:solidFill>
          <a:ln xmlns:a="http://schemas.openxmlformats.org/drawingml/2006/main" w="0">
            <a:solidFill>
              <a:srgbClr val="101318"/>
            </a:solidFill>
            <a:prstDash val="solid"/>
          </a:ln>
        </p:spPr>
      </p:sp>
      <p:sp>
        <p:nvSpPr>
          <p:cNvPr id="43" name="callback-title">
            <a:extLst xmlns:a="http://schemas.openxmlformats.org/drawingml/2006/main">
              <a:ext uri="{FF2B5EF4-FFF2-40B4-BE49-F238E27FC236}">
                <a16:creationId xmlns:a16="http://schemas.microsoft.com/office/drawing/2014/main" id="{CC5269DF-2FF6-4419-9761-85525E4AA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971925"/>
            <a:ext cx="2190750" cy="18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t>CONFIGURED WEBHOOK</a:t>
            </a:r>
          </a:p>
        </p:txBody>
      </p:sp>
      <p:sp>
        <p:nvSpPr>
          <p:cNvPr id="44" name="callback-direction">
            <a:extLst xmlns:a="http://schemas.openxmlformats.org/drawingml/2006/main">
              <a:ext uri="{FF2B5EF4-FFF2-40B4-BE49-F238E27FC236}">
                <a16:creationId xmlns:a16="http://schemas.microsoft.com/office/drawing/2014/main" id="{0D0C5792-1E55-4F3E-96D1-3580F8C3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943350"/>
            <a:ext cx="228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t>←</a:t>
            </a:r>
          </a:p>
        </p:txBody>
      </p:sp>
      <p:sp>
        <p:nvSpPr>
          <p:cNvPr id="45" name="callback-body">
            <a:extLst xmlns:a="http://schemas.openxmlformats.org/drawingml/2006/main">
              <a:ext uri="{FF2B5EF4-FFF2-40B4-BE49-F238E27FC236}">
                <a16:creationId xmlns:a16="http://schemas.microsoft.com/office/drawing/2014/main" id="{54D8CEAE-B805-4E1B-9981-21873C16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886200"/>
            <a:ext cx="8534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0">
            <a:solidFill>
              <a:srgbClr val="F3F5F7"/>
            </a:solidFill>
            <a:prstDash val="solid"/>
          </a:ln>
        </p:spPr>
      </p:sp>
      <p:sp>
        <p:nvSpPr>
          <p:cNvPr id="46" name="callback-copy">
            <a:extLst xmlns:a="http://schemas.openxmlformats.org/drawingml/2006/main">
              <a:ext uri="{FF2B5EF4-FFF2-40B4-BE49-F238E27FC236}">
                <a16:creationId xmlns:a16="http://schemas.microsoft.com/office/drawing/2014/main" id="{229B5378-9A8B-4164-AC36-17218122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971925"/>
            <a:ext cx="8096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MTP returns the event, verdict, audit ID and reason to Cordant. Receipts and proofs remain separate endpoints.</a:t>
            </a:r>
          </a:p>
        </p:txBody>
      </p:sp>
      <p:sp>
        <p:nvSpPr>
          <p:cNvPr id="47" name="pack-flow-caption">
            <a:extLst xmlns:a="http://schemas.openxmlformats.org/drawingml/2006/main">
              <a:ext uri="{FF2B5EF4-FFF2-40B4-BE49-F238E27FC236}">
                <a16:creationId xmlns:a16="http://schemas.microsoft.com/office/drawing/2014/main" id="{8C1816B5-82D1-4030-89C4-3A30F48A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933950"/>
            <a:ext cx="361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72270"/>
          </a:bodyPr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EXPORT + ASSEMBLE</a:t>
            </a:r>
          </a:p>
        </p:txBody>
      </p:sp>
      <p:sp>
        <p:nvSpPr>
          <p:cNvPr id="48" name="pack-flow-arrow">
            <a:extLst xmlns:a="http://schemas.openxmlformats.org/drawingml/2006/main">
              <a:ext uri="{FF2B5EF4-FFF2-40B4-BE49-F238E27FC236}">
                <a16:creationId xmlns:a16="http://schemas.microsoft.com/office/drawing/2014/main" id="{E47D147A-66B6-4DD9-BB31-08D16BE70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191125"/>
            <a:ext cx="3619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→</a:t>
            </a:r>
          </a:p>
        </p:txBody>
      </p:sp>
      <p:sp>
        <p:nvSpPr>
          <p:cNvPr id="49" name="verify-flow-caption">
            <a:extLst xmlns:a="http://schemas.openxmlformats.org/drawingml/2006/main">
              <a:ext uri="{FF2B5EF4-FFF2-40B4-BE49-F238E27FC236}">
                <a16:creationId xmlns:a16="http://schemas.microsoft.com/office/drawing/2014/main" id="{1475E863-A2FB-4093-8867-4378AA10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33950"/>
            <a:ext cx="361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78892"/>
          </a:bodyPr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DELIVER PACK</a:t>
            </a:r>
          </a:p>
        </p:txBody>
      </p:sp>
      <p:sp>
        <p:nvSpPr>
          <p:cNvPr id="50" name="verify-flow-arrow">
            <a:extLst xmlns:a="http://schemas.openxmlformats.org/drawingml/2006/main">
              <a:ext uri="{FF2B5EF4-FFF2-40B4-BE49-F238E27FC236}">
                <a16:creationId xmlns:a16="http://schemas.microsoft.com/office/drawing/2014/main" id="{32E9E58F-7FEE-4920-BB2A-D0F5E4B49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191125"/>
            <a:ext cx="3619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168A68"/>
                </a:solidFill>
                <a:latin typeface="Arial"/>
                <a:ea typeface="Arial"/>
                <a:cs typeface="Arial"/>
              </a:defRPr>
            </a:pPr>
            <a:r>
              <a:t>→</a:t>
            </a:r>
          </a:p>
        </p:txBody>
      </p:sp>
      <p:sp>
        <p:nvSpPr>
          <p:cNvPr id="51" name="evidence-panel">
            <a:extLst xmlns:a="http://schemas.openxmlformats.org/drawingml/2006/main">
              <a:ext uri="{FF2B5EF4-FFF2-40B4-BE49-F238E27FC236}">
                <a16:creationId xmlns:a16="http://schemas.microsoft.com/office/drawing/2014/main" id="{B0C226FA-20EC-4C4E-8AC7-821A27E5A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91050"/>
            <a:ext cx="3524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FD"/>
          </a:solidFill>
          <a:ln xmlns:a="http://schemas.openxmlformats.org/drawingml/2006/main" w="14288">
            <a:solidFill>
              <a:srgbClr val="3D8DFF"/>
            </a:solidFill>
            <a:prstDash val="solid"/>
          </a:ln>
        </p:spPr>
      </p:sp>
      <p:sp>
        <p:nvSpPr>
          <p:cNvPr id="52" name="evidence-plane">
            <a:extLst xmlns:a="http://schemas.openxmlformats.org/drawingml/2006/main">
              <a:ext uri="{FF2B5EF4-FFF2-40B4-BE49-F238E27FC236}">
                <a16:creationId xmlns:a16="http://schemas.microsoft.com/office/drawing/2014/main" id="{E6761E7B-960E-4DC2-951A-6E6F1627B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05350"/>
            <a:ext cx="31051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A5672"/>
                </a:solidFill>
                <a:latin typeface="Arial"/>
                <a:ea typeface="Arial"/>
                <a:cs typeface="Arial"/>
              </a:defRPr>
            </a:pPr>
            <a:r>
              <a:t>MTP EVIDENCE PIPELINE</a:t>
            </a:r>
          </a:p>
        </p:txBody>
      </p:sp>
      <p:sp>
        <p:nvSpPr>
          <p:cNvPr id="53" name="evidence-title">
            <a:extLst xmlns:a="http://schemas.openxmlformats.org/drawingml/2006/main">
              <a:ext uri="{FF2B5EF4-FFF2-40B4-BE49-F238E27FC236}">
                <a16:creationId xmlns:a16="http://schemas.microsoft.com/office/drawing/2014/main" id="{254F2677-00CE-42D0-81F1-1ABC86796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05375"/>
            <a:ext cx="31051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945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AUDIT, RECEIPT + BASE PROOF</a:t>
            </a:r>
          </a:p>
        </p:txBody>
      </p:sp>
      <p:sp>
        <p:nvSpPr>
          <p:cNvPr id="54" name="evidence-receipt-dot">
            <a:extLst xmlns:a="http://schemas.openxmlformats.org/drawingml/2006/main">
              <a:ext uri="{FF2B5EF4-FFF2-40B4-BE49-F238E27FC236}">
                <a16:creationId xmlns:a16="http://schemas.microsoft.com/office/drawing/2014/main" id="{20D98BA2-D19A-4E09-B423-4246577BA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959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55" name="evidence-receipt-text">
            <a:extLst xmlns:a="http://schemas.openxmlformats.org/drawingml/2006/main">
              <a:ext uri="{FF2B5EF4-FFF2-40B4-BE49-F238E27FC236}">
                <a16:creationId xmlns:a16="http://schemas.microsoft.com/office/drawing/2014/main" id="{FDEACAA8-3F25-4523-981E-9F2AB935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219700"/>
            <a:ext cx="29432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Audit log → public receipt</a:t>
            </a:r>
          </a:p>
        </p:txBody>
      </p:sp>
      <p:sp>
        <p:nvSpPr>
          <p:cNvPr id="56" name="evidence-anchor-dot">
            <a:extLst xmlns:a="http://schemas.openxmlformats.org/drawingml/2006/main">
              <a:ext uri="{FF2B5EF4-FFF2-40B4-BE49-F238E27FC236}">
                <a16:creationId xmlns:a16="http://schemas.microsoft.com/office/drawing/2014/main" id="{04FC93CE-E8E9-4D4F-BA4D-4C084903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626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57" name="evidence-anchor-text">
            <a:extLst xmlns:a="http://schemas.openxmlformats.org/drawingml/2006/main">
              <a:ext uri="{FF2B5EF4-FFF2-40B4-BE49-F238E27FC236}">
                <a16:creationId xmlns:a16="http://schemas.microsoft.com/office/drawing/2014/main" id="{3BD1ED46-2B41-4118-B6F4-3C52EE0B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486400"/>
            <a:ext cx="29432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Eligible logs → Merkle root
Base mainnet · chain ID 8453</a:t>
            </a:r>
          </a:p>
        </p:txBody>
      </p:sp>
      <p:sp>
        <p:nvSpPr>
          <p:cNvPr id="58" name="evidence-proof">
            <a:extLst xmlns:a="http://schemas.openxmlformats.org/drawingml/2006/main">
              <a:ext uri="{FF2B5EF4-FFF2-40B4-BE49-F238E27FC236}">
                <a16:creationId xmlns:a16="http://schemas.microsoft.com/office/drawing/2014/main" id="{4CFC508D-C3B6-4A12-A103-E84E86435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91200"/>
            <a:ext cx="31051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82333"/>
          </a:bodyPr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0A5672"/>
                </a:solidFill>
                <a:latin typeface="Arial"/>
                <a:ea typeface="Arial"/>
                <a:cs typeface="Arial"/>
              </a:defRPr>
            </a:pPr>
            <a:r>
              <a:t>Proof endpoint reports pending, failed, sandbox or anchored.</a:t>
            </a:r>
          </a:p>
        </p:txBody>
      </p:sp>
      <p:sp>
        <p:nvSpPr>
          <p:cNvPr id="59" name="pack-panel">
            <a:extLst xmlns:a="http://schemas.openxmlformats.org/drawingml/2006/main">
              <a:ext uri="{FF2B5EF4-FFF2-40B4-BE49-F238E27FC236}">
                <a16:creationId xmlns:a16="http://schemas.microsoft.com/office/drawing/2014/main" id="{79D4C213-0FA0-4DDF-A595-F53569602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591050"/>
            <a:ext cx="28575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40"/>
          </a:solidFill>
          <a:ln xmlns:a="http://schemas.openxmlformats.org/drawingml/2006/main" w="0">
            <a:solidFill>
              <a:srgbClr val="253040"/>
            </a:solidFill>
            <a:prstDash val="solid"/>
          </a:ln>
        </p:spPr>
      </p:sp>
      <p:sp>
        <p:nvSpPr>
          <p:cNvPr id="60" name="pack-accent">
            <a:extLst xmlns:a="http://schemas.openxmlformats.org/drawingml/2006/main">
              <a:ext uri="{FF2B5EF4-FFF2-40B4-BE49-F238E27FC236}">
                <a16:creationId xmlns:a16="http://schemas.microsoft.com/office/drawing/2014/main" id="{B6BFA077-C630-40CE-ADA3-6491444A7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591050"/>
            <a:ext cx="6667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61" name="pack-plane">
            <a:extLst xmlns:a="http://schemas.openxmlformats.org/drawingml/2006/main">
              <a:ext uri="{FF2B5EF4-FFF2-40B4-BE49-F238E27FC236}">
                <a16:creationId xmlns:a16="http://schemas.microsoft.com/office/drawing/2014/main" id="{0202692A-0378-4505-9111-B6A997540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705350"/>
            <a:ext cx="24193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t>OPERATOR RUN  |  OFFLINE</a:t>
            </a:r>
          </a:p>
        </p:txBody>
      </p:sp>
      <p:sp>
        <p:nvSpPr>
          <p:cNvPr id="62" name="pack-title">
            <a:extLst xmlns:a="http://schemas.openxmlformats.org/drawingml/2006/main">
              <a:ext uri="{FF2B5EF4-FFF2-40B4-BE49-F238E27FC236}">
                <a16:creationId xmlns:a16="http://schemas.microsoft.com/office/drawing/2014/main" id="{1B6F788C-4317-4897-AE37-2A3E7539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905375"/>
            <a:ext cx="24193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EVIDENCE PACK</a:t>
            </a:r>
          </a:p>
        </p:txBody>
      </p:sp>
      <p:sp>
        <p:nvSpPr>
          <p:cNvPr id="63" name="pack-custody-dot">
            <a:extLst xmlns:a="http://schemas.openxmlformats.org/drawingml/2006/main">
              <a:ext uri="{FF2B5EF4-FFF2-40B4-BE49-F238E27FC236}">
                <a16:creationId xmlns:a16="http://schemas.microsoft.com/office/drawing/2014/main" id="{5DEF63BC-AA9D-477D-AC78-ECB3D1336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2959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64" name="pack-custody-text">
            <a:extLst xmlns:a="http://schemas.openxmlformats.org/drawingml/2006/main">
              <a:ext uri="{FF2B5EF4-FFF2-40B4-BE49-F238E27FC236}">
                <a16:creationId xmlns:a16="http://schemas.microsoft.com/office/drawing/2014/main" id="{628E187F-75C7-4BEA-814C-F09EAA3F0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5219700"/>
            <a:ext cx="22574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9E0E9"/>
                </a:solidFill>
                <a:latin typeface="Arial"/>
                <a:ea typeface="Arial"/>
                <a:cs typeface="Arial"/>
              </a:defRPr>
            </a:pPr>
            <a:r>
              <a:t>Recheck custody hashes</a:t>
            </a:r>
          </a:p>
        </p:txBody>
      </p:sp>
      <p:sp>
        <p:nvSpPr>
          <p:cNvPr id="65" name="pack-content-dot">
            <a:extLst xmlns:a="http://schemas.openxmlformats.org/drawingml/2006/main">
              <a:ext uri="{FF2B5EF4-FFF2-40B4-BE49-F238E27FC236}">
                <a16:creationId xmlns:a16="http://schemas.microsoft.com/office/drawing/2014/main" id="{86167646-B9DA-45DE-AB90-F14D309CB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5626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solidFill>
              <a:srgbClr val="6DCBF4"/>
            </a:solidFill>
            <a:prstDash val="solid"/>
          </a:ln>
        </p:spPr>
      </p:sp>
      <p:sp>
        <p:nvSpPr>
          <p:cNvPr id="66" name="pack-content-text">
            <a:extLst xmlns:a="http://schemas.openxmlformats.org/drawingml/2006/main">
              <a:ext uri="{FF2B5EF4-FFF2-40B4-BE49-F238E27FC236}">
                <a16:creationId xmlns:a16="http://schemas.microsoft.com/office/drawing/2014/main" id="{37B2B098-C489-4A83-9E9A-77D91C6A2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5486400"/>
            <a:ext cx="22574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9E0E9"/>
                </a:solidFill>
                <a:latin typeface="Arial"/>
                <a:ea typeface="Arial"/>
                <a:cs typeface="Arial"/>
              </a:defRPr>
            </a:pPr>
            <a:r>
              <a:t>Add receipts, proofs and evidence</a:t>
            </a:r>
          </a:p>
        </p:txBody>
      </p:sp>
      <p:sp>
        <p:nvSpPr>
          <p:cNvPr id="67" name="pack-signature">
            <a:extLst xmlns:a="http://schemas.openxmlformats.org/drawingml/2006/main">
              <a:ext uri="{FF2B5EF4-FFF2-40B4-BE49-F238E27FC236}">
                <a16:creationId xmlns:a16="http://schemas.microsoft.com/office/drawing/2014/main" id="{E37F1722-FC3E-40FE-AEF1-8CA420D48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762625"/>
            <a:ext cx="24193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70953"/>
          </a:bodyPr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Sign JCS manifest with a separate Ed25519 key. ZIP is packaging.</a:t>
            </a:r>
          </a:p>
        </p:txBody>
      </p:sp>
      <p:sp>
        <p:nvSpPr>
          <p:cNvPr id="68" name="verify-panel">
            <a:extLst xmlns:a="http://schemas.openxmlformats.org/drawingml/2006/main">
              <a:ext uri="{FF2B5EF4-FFF2-40B4-BE49-F238E27FC236}">
                <a16:creationId xmlns:a16="http://schemas.microsoft.com/office/drawing/2014/main" id="{7742B060-9D52-4E1B-88A1-4AA1BEA72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91050"/>
            <a:ext cx="4095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8F4"/>
          </a:solidFill>
          <a:ln xmlns:a="http://schemas.openxmlformats.org/drawingml/2006/main" w="14288">
            <a:solidFill>
              <a:srgbClr val="168A68"/>
            </a:solidFill>
            <a:prstDash val="solid"/>
          </a:ln>
        </p:spPr>
      </p:sp>
      <p:sp>
        <p:nvSpPr>
          <p:cNvPr id="69" name="verify-accent">
            <a:extLst xmlns:a="http://schemas.openxmlformats.org/drawingml/2006/main">
              <a:ext uri="{FF2B5EF4-FFF2-40B4-BE49-F238E27FC236}">
                <a16:creationId xmlns:a16="http://schemas.microsoft.com/office/drawing/2014/main" id="{3DF512E0-663A-42C8-8C00-213E2C234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91050"/>
            <a:ext cx="66675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68"/>
          </a:solidFill>
          <a:ln xmlns:a="http://schemas.openxmlformats.org/drawingml/2006/main" w="0">
            <a:solidFill>
              <a:srgbClr val="168A68"/>
            </a:solidFill>
            <a:prstDash val="solid"/>
          </a:ln>
        </p:spPr>
      </p:sp>
      <p:sp>
        <p:nvSpPr>
          <p:cNvPr id="70" name="verify-plane">
            <a:extLst xmlns:a="http://schemas.openxmlformats.org/drawingml/2006/main">
              <a:ext uri="{FF2B5EF4-FFF2-40B4-BE49-F238E27FC236}">
                <a16:creationId xmlns:a16="http://schemas.microsoft.com/office/drawing/2014/main" id="{2CF69673-6B70-4445-829C-3BC7BBA0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705350"/>
            <a:ext cx="3600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D5D48"/>
                </a:solidFill>
                <a:latin typeface="Arial"/>
                <a:ea typeface="Arial"/>
                <a:cs typeface="Arial"/>
              </a:defRPr>
            </a:pPr>
            <a:r>
              <a:t>INDEPENDENT PUBLIC VERIFIER</a:t>
            </a:r>
          </a:p>
        </p:txBody>
      </p:sp>
      <p:sp>
        <p:nvSpPr>
          <p:cNvPr id="71" name="verify-title">
            <a:extLst xmlns:a="http://schemas.openxmlformats.org/drawingml/2006/main">
              <a:ext uri="{FF2B5EF4-FFF2-40B4-BE49-F238E27FC236}">
                <a16:creationId xmlns:a16="http://schemas.microsoft.com/office/drawing/2014/main" id="{723138DC-C0D7-4098-ABC0-D8C3B04B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905375"/>
            <a:ext cx="36004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INNTRIS VERIFY</a:t>
            </a:r>
          </a:p>
        </p:txBody>
      </p:sp>
      <p:sp>
        <p:nvSpPr>
          <p:cNvPr id="72" name="verify-key-dot">
            <a:extLst xmlns:a="http://schemas.openxmlformats.org/drawingml/2006/main">
              <a:ext uri="{FF2B5EF4-FFF2-40B4-BE49-F238E27FC236}">
                <a16:creationId xmlns:a16="http://schemas.microsoft.com/office/drawing/2014/main" id="{0D5AF3D7-E136-4838-8CC0-443586F71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2959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8"/>
          </a:solidFill>
          <a:ln xmlns:a="http://schemas.openxmlformats.org/drawingml/2006/main" w="0">
            <a:solidFill>
              <a:srgbClr val="168A68"/>
            </a:solidFill>
            <a:prstDash val="solid"/>
          </a:ln>
        </p:spPr>
      </p:sp>
      <p:sp>
        <p:nvSpPr>
          <p:cNvPr id="73" name="verify-key-text">
            <a:extLst xmlns:a="http://schemas.openxmlformats.org/drawingml/2006/main">
              <a:ext uri="{FF2B5EF4-FFF2-40B4-BE49-F238E27FC236}">
                <a16:creationId xmlns:a16="http://schemas.microsoft.com/office/drawing/2014/main" id="{9C3B3E6C-A27B-4E0F-8AFD-CD46FBE9F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219700"/>
            <a:ext cx="343852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Pin the public key out-of-band
from KEYS.md or its mirror</a:t>
            </a:r>
          </a:p>
        </p:txBody>
      </p:sp>
      <p:sp>
        <p:nvSpPr>
          <p:cNvPr id="74" name="verify-manifest-dot">
            <a:extLst xmlns:a="http://schemas.openxmlformats.org/drawingml/2006/main">
              <a:ext uri="{FF2B5EF4-FFF2-40B4-BE49-F238E27FC236}">
                <a16:creationId xmlns:a16="http://schemas.microsoft.com/office/drawing/2014/main" id="{75D47D06-AC54-449A-8BAF-7FECAF8E9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6483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8"/>
          </a:solidFill>
          <a:ln xmlns:a="http://schemas.openxmlformats.org/drawingml/2006/main" w="0">
            <a:solidFill>
              <a:srgbClr val="168A68"/>
            </a:solidFill>
            <a:prstDash val="solid"/>
          </a:ln>
        </p:spPr>
      </p:sp>
      <p:sp>
        <p:nvSpPr>
          <p:cNvPr id="75" name="verify-manifest-text">
            <a:extLst xmlns:a="http://schemas.openxmlformats.org/drawingml/2006/main">
              <a:ext uri="{FF2B5EF4-FFF2-40B4-BE49-F238E27FC236}">
                <a16:creationId xmlns:a16="http://schemas.microsoft.com/office/drawing/2014/main" id="{9835DF57-FFCE-40C6-95CA-2B79C5FC0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572125"/>
            <a:ext cx="34385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Verify manifest signature + every file SHA256</a:t>
            </a:r>
          </a:p>
        </p:txBody>
      </p:sp>
      <p:sp>
        <p:nvSpPr>
          <p:cNvPr id="76" name="verify-final">
            <a:extLst xmlns:a="http://schemas.openxmlformats.org/drawingml/2006/main">
              <a:ext uri="{FF2B5EF4-FFF2-40B4-BE49-F238E27FC236}">
                <a16:creationId xmlns:a16="http://schemas.microsoft.com/office/drawing/2014/main" id="{DA647078-E27A-403F-8453-02E06C941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838825"/>
            <a:ext cx="36004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65881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D5D48"/>
                </a:solidFill>
                <a:latin typeface="Arial"/>
                <a:ea typeface="Arial"/>
                <a:cs typeface="Arial"/>
              </a:defRPr>
            </a:pPr>
            <a:r>
              <a:t>Check receipts, agent signatures and Merkle proofs. Optional Base RPC is chosen by the verifier.</a:t>
            </a:r>
          </a:p>
        </p:txBody>
      </p:sp>
      <p:sp>
        <p:nvSpPr>
          <p:cNvPr id="77" name="architecture-boundary">
            <a:extLst xmlns:a="http://schemas.openxmlformats.org/drawingml/2006/main">
              <a:ext uri="{FF2B5EF4-FFF2-40B4-BE49-F238E27FC236}">
                <a16:creationId xmlns:a16="http://schemas.microsoft.com/office/drawing/2014/main" id="{780EC1DF-E155-4337-A62E-16216C8D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62675"/>
            <a:ext cx="11201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Boundary: Cordant and executor adapters remain integration work. MTP and Inntris Verify are implemented code paths.</a:t>
            </a:r>
          </a:p>
        </p:txBody>
      </p:sp>
      <p:sp>
        <p:nvSpPr>
          <p:cNvPr id="78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02866DBD-18D2-4D65-8268-D4F5D8699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96050"/>
            <a:ext cx="10572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t>Code basis: MTP 7e0bf71  |  api/main.py, api/webhooks.py, workers/anchor_worker.py, evidence_pack/  |  Inntris Verify f3e8524  |  Cordant adapter proposed</a:t>
            </a:r>
          </a:p>
        </p:txBody>
      </p:sp>
      <p:sp>
        <p:nvSpPr>
          <p:cNvPr id="79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7C92960-AF5E-45F7-8C90-E35CC2AE1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67475"/>
            <a:ext cx="419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0B0F14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059257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2026-07-23T08:37:22.3160000Z</dcterms:created>
  <dcterms:modified xsi:type="dcterms:W3CDTF">2026-07-23T08:37:22.3170000Z</dcterms:modified>
</coreProperties>
</file>