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5b5c0f17b254269" /><Relationship Type="http://schemas.openxmlformats.org/officeDocument/2006/relationships/extended-properties" Target="/docProps/app.xml" Id="Rbcba6f93836944c6" /><Relationship Type="http://schemas.openxmlformats.org/officeDocument/2006/relationships/officeDocument" Target="/ppt/presentation.xml" Id="R76fb8200477a486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aa9cd1244c747ed"/>
  </p:sldMasterIdLst>
  <p:notesMasterIdLst>
    <p:notesMasterId xmlns:r="http://schemas.openxmlformats.org/officeDocument/2006/relationships" r:id="Rd77c5889a506491d"/>
  </p:notesMasterIdLst>
  <p:sldIdLst>
    <p:sldId xmlns:r="http://schemas.openxmlformats.org/officeDocument/2006/relationships" id="256" r:id="R0a968e33959c465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2d1713d2042440e" /><Relationship Type="http://schemas.openxmlformats.org/officeDocument/2006/relationships/slideMaster" Target="/ppt/slideMasters/slideMaster1.xml" Id="Raaa9cd1244c747ed" /><Relationship Type="http://schemas.openxmlformats.org/officeDocument/2006/relationships/notesMaster" Target="/ppt/notesMasters/notesMaster1.xml" Id="Rd77c5889a506491d" /><Relationship Type="http://schemas.openxmlformats.org/officeDocument/2006/relationships/presProps" Target="/ppt/presProps.xml" Id="Rcb9852c04c4d4c2e" /><Relationship Type="http://schemas.openxmlformats.org/officeDocument/2006/relationships/tableStyles" Target="/ppt/tableStyles.xml" Id="R1abf6fd8785c4ceb" /><Relationship Type="http://schemas.openxmlformats.org/officeDocument/2006/relationships/slide" Target="/ppt/slides/slide1.xml" Id="R0a968e33959c465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6ecaf703d04432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5555147c54f43c7" /><Relationship Type="http://schemas.openxmlformats.org/officeDocument/2006/relationships/notesMaster" Target="/ppt/notesMasters/notesMaster1.xml" Id="Red816bb378614e9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9935b6934d40c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b90879d17d04d24" /><Relationship Type="http://schemas.openxmlformats.org/officeDocument/2006/relationships/slideLayout" Target="/ppt/slideLayouts/slideLayout1.xml" Id="R82e9f80cd50c48e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2e9f80cd50c48e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191f4445b240b7" /><Relationship Type="http://schemas.openxmlformats.org/officeDocument/2006/relationships/notesSlide" Target="/ppt/notesSlides/notesSlide1.xml" Id="R0dbd7e5a70a2432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0" name="canvas">
            <a:extLst xmlns:a="http://schemas.openxmlformats.org/drawingml/2006/main">
              <a:ext uri="{FF2B5EF4-FFF2-40B4-BE49-F238E27FC236}">
                <a16:creationId xmlns:a16="http://schemas.microsoft.com/office/drawing/2014/main" id="{07523A9C-A15C-4A13-9DC5-3206711F6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B32C3A3C-E235-4C3E-9316-FEA2CEBB4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9550"/>
            <a:ext cx="8763000" cy="20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t>CORDANT × INNTRIS REFERENCE ARCHITECTURE  |  CORDANT ADAPTER PROPOSED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9EE48D60-E481-4E64-9548-0DE638F7C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57200"/>
            <a:ext cx="112014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Inntris controls execution. Inntris Verify checks the evidence.</a:t>
            </a:r>
          </a:p>
        </p:txBody>
      </p:sp>
      <p:sp>
        <p:nvSpPr>
          <p:cNvPr id="4" name="subhead">
            <a:extLst xmlns:a="http://schemas.openxmlformats.org/drawingml/2006/main">
              <a:ext uri="{FF2B5EF4-FFF2-40B4-BE49-F238E27FC236}">
                <a16:creationId xmlns:a16="http://schemas.microsoft.com/office/drawing/2014/main" id="{79E19355-9170-42FD-8F88-27AEB5B17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00125"/>
            <a:ext cx="10906125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t>Cordant supplies proposed context; MTP gates the action; an operator signed pack can be verified without calling Inntris.</a:t>
            </a:r>
          </a:p>
        </p:txBody>
      </p:sp>
      <p:cxnSp>
        <p:nvCxnSpPr>
          <p:cNvPr id="84" name="title-rule"/>
          <p:cNvCxnSpPr/>
          <p:nvPr/>
        </p:nvCxnSpPr>
        <p:spPr>
          <a:xfrm xmlns:a="http://schemas.openxmlformats.org/drawingml/2006/main">
            <a:off x="495300" y="1381125"/>
            <a:ext cx="112014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B0F14"/>
            </a:solidFill>
            <a:prstDash val="solid"/>
          </a:ln>
        </p:spPr>
      </p:cxnSp>
      <p:sp>
        <p:nvSpPr>
          <p:cNvPr id="6" name="intent-flow-caption">
            <a:extLst xmlns:a="http://schemas.openxmlformats.org/drawingml/2006/main">
              <a:ext uri="{FF2B5EF4-FFF2-40B4-BE49-F238E27FC236}">
                <a16:creationId xmlns:a16="http://schemas.microsoft.com/office/drawing/2014/main" id="{F27E9780-264A-44D3-94F2-F1CECD8F9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314575"/>
            <a:ext cx="4762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78892"/>
          </a:bodyPr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t>SIGNED INTENT</a:t>
            </a:r>
          </a:p>
        </p:txBody>
      </p:sp>
      <p:sp>
        <p:nvSpPr>
          <p:cNvPr id="7" name="intent-flow-arrow">
            <a:extLst xmlns:a="http://schemas.openxmlformats.org/drawingml/2006/main">
              <a:ext uri="{FF2B5EF4-FFF2-40B4-BE49-F238E27FC236}">
                <a16:creationId xmlns:a16="http://schemas.microsoft.com/office/drawing/2014/main" id="{30181B91-40D3-4615-BC32-D793BF640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571750"/>
            <a:ext cx="4762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→</a:t>
            </a:r>
          </a:p>
        </p:txBody>
      </p:sp>
      <p:sp>
        <p:nvSpPr>
          <p:cNvPr id="8" name="decision-flow-caption">
            <a:extLst xmlns:a="http://schemas.openxmlformats.org/drawingml/2006/main">
              <a:ext uri="{FF2B5EF4-FFF2-40B4-BE49-F238E27FC236}">
                <a16:creationId xmlns:a16="http://schemas.microsoft.com/office/drawing/2014/main" id="{39D33B2C-9104-4E05-ADDF-918FC1E56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14575"/>
            <a:ext cx="4762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78892"/>
          </a:bodyPr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t>TOKEN OR DENY</a:t>
            </a:r>
          </a:p>
        </p:txBody>
      </p:sp>
      <p:sp>
        <p:nvSpPr>
          <p:cNvPr id="9" name="decision-flow-arrow">
            <a:extLst xmlns:a="http://schemas.openxmlformats.org/drawingml/2006/main">
              <a:ext uri="{FF2B5EF4-FFF2-40B4-BE49-F238E27FC236}">
                <a16:creationId xmlns:a16="http://schemas.microsoft.com/office/drawing/2014/main" id="{80A43E6E-FCC3-4774-B2CB-6373BE35D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571750"/>
            <a:ext cx="4762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→</a:t>
            </a:r>
          </a:p>
        </p:txBody>
      </p:sp>
      <p:sp>
        <p:nvSpPr>
          <p:cNvPr id="10" name="cordant-panel">
            <a:extLst xmlns:a="http://schemas.openxmlformats.org/drawingml/2006/main">
              <a:ext uri="{FF2B5EF4-FFF2-40B4-BE49-F238E27FC236}">
                <a16:creationId xmlns:a16="http://schemas.microsoft.com/office/drawing/2014/main" id="{57B0FB55-8105-4602-B434-65E1306D7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57350"/>
            <a:ext cx="2667000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318"/>
          </a:solidFill>
          <a:ln xmlns:a="http://schemas.openxmlformats.org/drawingml/2006/main" w="0">
            <a:solidFill>
              <a:srgbClr val="101318"/>
            </a:solidFill>
            <a:prstDash val="solid"/>
          </a:ln>
        </p:spPr>
      </p:sp>
      <p:sp>
        <p:nvSpPr>
          <p:cNvPr id="11" name="cordant-accent">
            <a:extLst xmlns:a="http://schemas.openxmlformats.org/drawingml/2006/main">
              <a:ext uri="{FF2B5EF4-FFF2-40B4-BE49-F238E27FC236}">
                <a16:creationId xmlns:a16="http://schemas.microsoft.com/office/drawing/2014/main" id="{A0CA6AF3-CBB3-45DC-9CF6-46F8D2F97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57350"/>
            <a:ext cx="66675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solidFill>
              <a:srgbClr val="6DCBF4"/>
            </a:solidFill>
            <a:prstDash val="solid"/>
          </a:ln>
        </p:spPr>
      </p:sp>
      <p:sp>
        <p:nvSpPr>
          <p:cNvPr id="12" name="cordant-plane">
            <a:extLst xmlns:a="http://schemas.openxmlformats.org/drawingml/2006/main">
              <a:ext uri="{FF2B5EF4-FFF2-40B4-BE49-F238E27FC236}">
                <a16:creationId xmlns:a16="http://schemas.microsoft.com/office/drawing/2014/main" id="{FB3DB3F0-08AF-4DBD-BF07-9900DA872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00225"/>
            <a:ext cx="2190750" cy="1809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t>PROPOSED CONTEXT ADAPTER</a:t>
            </a:r>
          </a:p>
        </p:txBody>
      </p:sp>
      <p:sp>
        <p:nvSpPr>
          <p:cNvPr id="13" name="cordant-title">
            <a:extLst xmlns:a="http://schemas.openxmlformats.org/drawingml/2006/main">
              <a:ext uri="{FF2B5EF4-FFF2-40B4-BE49-F238E27FC236}">
                <a16:creationId xmlns:a16="http://schemas.microsoft.com/office/drawing/2014/main" id="{7FF31CC8-D547-4CE6-8762-A5178BB31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019300"/>
            <a:ext cx="2190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CORDANT</a:t>
            </a:r>
          </a:p>
        </p:txBody>
      </p:sp>
      <p:cxnSp>
        <p:nvCxnSpPr>
          <p:cNvPr id="93" name="cordant-rule"/>
          <p:cNvCxnSpPr/>
          <p:nvPr/>
        </p:nvCxnSpPr>
        <p:spPr>
          <a:xfrm xmlns:a="http://schemas.openxmlformats.org/drawingml/2006/main">
            <a:off x="733425" y="2371725"/>
            <a:ext cx="219075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394251"/>
            </a:solidFill>
            <a:prstDash val="solid"/>
          </a:ln>
        </p:spPr>
      </p:cxnSp>
      <p:sp>
        <p:nvSpPr>
          <p:cNvPr id="15" name="cordant-connect-dot">
            <a:extLst xmlns:a="http://schemas.openxmlformats.org/drawingml/2006/main">
              <a:ext uri="{FF2B5EF4-FFF2-40B4-BE49-F238E27FC236}">
                <a16:creationId xmlns:a16="http://schemas.microsoft.com/office/drawing/2014/main" id="{2EE7CFA0-8520-4D68-9318-EC2BAA7DB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5431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solidFill>
              <a:srgbClr val="6DCBF4"/>
            </a:solidFill>
            <a:prstDash val="solid"/>
          </a:ln>
        </p:spPr>
      </p:sp>
      <p:sp>
        <p:nvSpPr>
          <p:cNvPr id="16" name="cordant-connect-text">
            <a:extLst xmlns:a="http://schemas.openxmlformats.org/drawingml/2006/main">
              <a:ext uri="{FF2B5EF4-FFF2-40B4-BE49-F238E27FC236}">
                <a16:creationId xmlns:a16="http://schemas.microsoft.com/office/drawing/2014/main" id="{94B61158-2BA0-48AC-AF1E-6C0A507C4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66975"/>
            <a:ext cx="2028825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9E0E9"/>
                </a:solidFill>
                <a:latin typeface="Arial"/>
                <a:ea typeface="Arial"/>
                <a:cs typeface="Arial"/>
              </a:defRPr>
            </a:pPr>
            <a:r>
              <a:t>Connect financial systems</a:t>
            </a:r>
          </a:p>
        </p:txBody>
      </p:sp>
      <p:sp>
        <p:nvSpPr>
          <p:cNvPr id="17" name="cordant-normalise-dot">
            <a:extLst xmlns:a="http://schemas.openxmlformats.org/drawingml/2006/main">
              <a:ext uri="{FF2B5EF4-FFF2-40B4-BE49-F238E27FC236}">
                <a16:creationId xmlns:a16="http://schemas.microsoft.com/office/drawing/2014/main" id="{65589C60-2752-4070-AB77-DB9CAFCCA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8384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solidFill>
              <a:srgbClr val="6DCBF4"/>
            </a:solidFill>
            <a:prstDash val="solid"/>
          </a:ln>
        </p:spPr>
      </p:sp>
      <p:sp>
        <p:nvSpPr>
          <p:cNvPr id="18" name="cordant-normalise-text">
            <a:extLst xmlns:a="http://schemas.openxmlformats.org/drawingml/2006/main">
              <a:ext uri="{FF2B5EF4-FFF2-40B4-BE49-F238E27FC236}">
                <a16:creationId xmlns:a16="http://schemas.microsoft.com/office/drawing/2014/main" id="{A0B926D6-8372-4055-ADF1-DA83420E7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62250"/>
            <a:ext cx="2028825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8284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9E0E9"/>
                </a:solidFill>
                <a:latin typeface="Arial"/>
                <a:ea typeface="Arial"/>
                <a:cs typeface="Arial"/>
              </a:defRPr>
            </a:pPr>
            <a:r>
              <a:t>Normalise and correlate states</a:t>
            </a:r>
          </a:p>
        </p:txBody>
      </p:sp>
      <p:sp>
        <p:nvSpPr>
          <p:cNvPr id="19" name="cordant-propose-dot">
            <a:extLst xmlns:a="http://schemas.openxmlformats.org/drawingml/2006/main">
              <a:ext uri="{FF2B5EF4-FFF2-40B4-BE49-F238E27FC236}">
                <a16:creationId xmlns:a16="http://schemas.microsoft.com/office/drawing/2014/main" id="{598EF6C2-FC2A-4150-A84E-D7BA3785F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1337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solidFill>
              <a:srgbClr val="6DCBF4"/>
            </a:solidFill>
            <a:prstDash val="solid"/>
          </a:ln>
        </p:spPr>
      </p:sp>
      <p:sp>
        <p:nvSpPr>
          <p:cNvPr id="20" name="cordant-propose-text">
            <a:extLst xmlns:a="http://schemas.openxmlformats.org/drawingml/2006/main">
              <a:ext uri="{FF2B5EF4-FFF2-40B4-BE49-F238E27FC236}">
                <a16:creationId xmlns:a16="http://schemas.microsoft.com/office/drawing/2014/main" id="{7B9872A4-EC15-45D4-AADF-D8AE05235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57525"/>
            <a:ext cx="2028825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9E0E9"/>
                </a:solidFill>
                <a:latin typeface="Arial"/>
                <a:ea typeface="Arial"/>
                <a:cs typeface="Arial"/>
              </a:defRPr>
            </a:pPr>
            <a:r>
              <a:t>Propose the guarded action</a:t>
            </a:r>
          </a:p>
        </p:txBody>
      </p:sp>
      <p:sp>
        <p:nvSpPr>
          <p:cNvPr id="21" name="cordant-boundary">
            <a:extLst xmlns:a="http://schemas.openxmlformats.org/drawingml/2006/main">
              <a:ext uri="{FF2B5EF4-FFF2-40B4-BE49-F238E27FC236}">
                <a16:creationId xmlns:a16="http://schemas.microsoft.com/office/drawing/2014/main" id="{BD455DBC-BEBF-4179-9DC2-C7EF12B10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438525"/>
            <a:ext cx="2190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NOT PRESENT IN MTP CODE</a:t>
            </a:r>
          </a:p>
        </p:txBody>
      </p:sp>
      <p:sp>
        <p:nvSpPr>
          <p:cNvPr id="22" name="mtp-panel">
            <a:extLst xmlns:a="http://schemas.openxmlformats.org/drawingml/2006/main">
              <a:ext uri="{FF2B5EF4-FFF2-40B4-BE49-F238E27FC236}">
                <a16:creationId xmlns:a16="http://schemas.microsoft.com/office/drawing/2014/main" id="{7CC7FE07-2A37-4DC8-9DE1-161BC29BE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657350"/>
            <a:ext cx="3810000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FD"/>
          </a:solidFill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23" name="mtp-accent">
            <a:extLst xmlns:a="http://schemas.openxmlformats.org/drawingml/2006/main">
              <a:ext uri="{FF2B5EF4-FFF2-40B4-BE49-F238E27FC236}">
                <a16:creationId xmlns:a16="http://schemas.microsoft.com/office/drawing/2014/main" id="{E98DCC32-4492-40CF-935C-5D8B73DE6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657350"/>
            <a:ext cx="76200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4" name="mtp-plane">
            <a:extLst xmlns:a="http://schemas.openxmlformats.org/drawingml/2006/main">
              <a:ext uri="{FF2B5EF4-FFF2-40B4-BE49-F238E27FC236}">
                <a16:creationId xmlns:a16="http://schemas.microsoft.com/office/drawing/2014/main" id="{B82A7F65-5ECB-4B64-B42B-4C4309625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800225"/>
            <a:ext cx="3257550" cy="1809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A5672"/>
                </a:solidFill>
                <a:latin typeface="Arial"/>
                <a:ea typeface="Arial"/>
                <a:cs typeface="Arial"/>
              </a:defRPr>
            </a:pPr>
            <a:r>
              <a:t>IMPLEMENTED LIVE CONTROL PATH</a:t>
            </a:r>
          </a:p>
        </p:txBody>
      </p:sp>
      <p:sp>
        <p:nvSpPr>
          <p:cNvPr id="25" name="mtp-title">
            <a:extLst xmlns:a="http://schemas.openxmlformats.org/drawingml/2006/main">
              <a:ext uri="{FF2B5EF4-FFF2-40B4-BE49-F238E27FC236}">
                <a16:creationId xmlns:a16="http://schemas.microsoft.com/office/drawing/2014/main" id="{72853CC2-6BCF-45D2-AA2D-1847AE8BE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019300"/>
            <a:ext cx="32575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INNTRIS MTP</a:t>
            </a:r>
          </a:p>
        </p:txBody>
      </p:sp>
      <p:cxnSp>
        <p:nvCxnSpPr>
          <p:cNvPr id="105" name="mtp-rule"/>
          <p:cNvCxnSpPr/>
          <p:nvPr/>
        </p:nvCxnSpPr>
        <p:spPr>
          <a:xfrm xmlns:a="http://schemas.openxmlformats.org/drawingml/2006/main">
            <a:off x="3905250" y="2371725"/>
            <a:ext cx="325755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CDCF4"/>
            </a:solidFill>
            <a:prstDash val="solid"/>
          </a:ln>
        </p:spPr>
      </p:cxnSp>
      <p:sp>
        <p:nvSpPr>
          <p:cNvPr id="27" name="mtp-route-dot">
            <a:extLst xmlns:a="http://schemas.openxmlformats.org/drawingml/2006/main">
              <a:ext uri="{FF2B5EF4-FFF2-40B4-BE49-F238E27FC236}">
                <a16:creationId xmlns:a16="http://schemas.microsoft.com/office/drawing/2014/main" id="{84851D9D-3039-4F90-8283-9BD890DE8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431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8" name="mtp-route-text">
            <a:extLst xmlns:a="http://schemas.openxmlformats.org/drawingml/2006/main">
              <a:ext uri="{FF2B5EF4-FFF2-40B4-BE49-F238E27FC236}">
                <a16:creationId xmlns:a16="http://schemas.microsoft.com/office/drawing/2014/main" id="{A6A897C7-9615-476D-AD5E-4A7E131FB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2466975"/>
            <a:ext cx="3095625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POST /verify</a:t>
            </a:r>
          </a:p>
        </p:txBody>
      </p:sp>
      <p:sp>
        <p:nvSpPr>
          <p:cNvPr id="29" name="mtp-checks-dot">
            <a:extLst xmlns:a="http://schemas.openxmlformats.org/drawingml/2006/main">
              <a:ext uri="{FF2B5EF4-FFF2-40B4-BE49-F238E27FC236}">
                <a16:creationId xmlns:a16="http://schemas.microsoft.com/office/drawing/2014/main" id="{11F4F39F-AFED-4D32-80A0-864F76A0E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384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30" name="mtp-checks-text">
            <a:extLst xmlns:a="http://schemas.openxmlformats.org/drawingml/2006/main">
              <a:ext uri="{FF2B5EF4-FFF2-40B4-BE49-F238E27FC236}">
                <a16:creationId xmlns:a16="http://schemas.microsoft.com/office/drawing/2014/main" id="{79249B91-5567-4088-B809-AC8B16E7B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2762250"/>
            <a:ext cx="3095625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Ed25519, replay, policy and limits</a:t>
            </a:r>
          </a:p>
        </p:txBody>
      </p:sp>
      <p:sp>
        <p:nvSpPr>
          <p:cNvPr id="31" name="mtp-decision-dot">
            <a:extLst xmlns:a="http://schemas.openxmlformats.org/drawingml/2006/main">
              <a:ext uri="{FF2B5EF4-FFF2-40B4-BE49-F238E27FC236}">
                <a16:creationId xmlns:a16="http://schemas.microsoft.com/office/drawing/2014/main" id="{320470B3-608A-459D-9DF2-928E9B6E9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1337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32" name="mtp-decision-text">
            <a:extLst xmlns:a="http://schemas.openxmlformats.org/drawingml/2006/main">
              <a:ext uri="{FF2B5EF4-FFF2-40B4-BE49-F238E27FC236}">
                <a16:creationId xmlns:a16="http://schemas.microsoft.com/office/drawing/2014/main" id="{42E52E79-138A-44F7-BF9F-CDE31967F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3057525"/>
            <a:ext cx="3095625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Approval token + audit ID, or deny</a:t>
            </a:r>
          </a:p>
        </p:txBody>
      </p:sp>
      <p:sp>
        <p:nvSpPr>
          <p:cNvPr id="33" name="mtp-invalid">
            <a:extLst xmlns:a="http://schemas.openxmlformats.org/drawingml/2006/main">
              <a:ext uri="{FF2B5EF4-FFF2-40B4-BE49-F238E27FC236}">
                <a16:creationId xmlns:a16="http://schemas.microsoft.com/office/drawing/2014/main" id="{4FA2AA06-5C21-4124-B550-38ABF9864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38525"/>
            <a:ext cx="3257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A5672"/>
                </a:solidFill>
                <a:latin typeface="Arial"/>
                <a:ea typeface="Arial"/>
                <a:cs typeface="Arial"/>
              </a:defRPr>
            </a:pPr>
            <a:r>
              <a:t>Invalid signature: 401 and no audit insert</a:t>
            </a:r>
          </a:p>
        </p:txBody>
      </p:sp>
      <p:sp>
        <p:nvSpPr>
          <p:cNvPr id="34" name="execution-panel">
            <a:extLst xmlns:a="http://schemas.openxmlformats.org/drawingml/2006/main">
              <a:ext uri="{FF2B5EF4-FFF2-40B4-BE49-F238E27FC236}">
                <a16:creationId xmlns:a16="http://schemas.microsoft.com/office/drawing/2014/main" id="{2F36C3CD-3123-41D5-977D-1EF7DB3C5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657350"/>
            <a:ext cx="3771900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BC2CC"/>
            </a:solidFill>
            <a:prstDash val="solid"/>
          </a:ln>
        </p:spPr>
      </p:sp>
      <p:sp>
        <p:nvSpPr>
          <p:cNvPr id="35" name="execution-plane">
            <a:extLst xmlns:a="http://schemas.openxmlformats.org/drawingml/2006/main">
              <a:ext uri="{FF2B5EF4-FFF2-40B4-BE49-F238E27FC236}">
                <a16:creationId xmlns:a16="http://schemas.microsoft.com/office/drawing/2014/main" id="{1FCBB7A4-83A8-4A69-9274-68BBA3858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00225"/>
            <a:ext cx="3276600" cy="1809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t>EXECUTOR INTEGRATION REQUIRED</a:t>
            </a:r>
          </a:p>
        </p:txBody>
      </p:sp>
      <p:sp>
        <p:nvSpPr>
          <p:cNvPr id="36" name="execution-title">
            <a:extLst xmlns:a="http://schemas.openxmlformats.org/drawingml/2006/main">
              <a:ext uri="{FF2B5EF4-FFF2-40B4-BE49-F238E27FC236}">
                <a16:creationId xmlns:a16="http://schemas.microsoft.com/office/drawing/2014/main" id="{1E36E9F2-F58C-47DE-8268-50674E6E9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019300"/>
            <a:ext cx="32766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EXECUTION GATE</a:t>
            </a:r>
          </a:p>
        </p:txBody>
      </p:sp>
      <p:cxnSp>
        <p:nvCxnSpPr>
          <p:cNvPr id="116" name="execution-rule"/>
          <p:cNvCxnSpPr/>
          <p:nvPr/>
        </p:nvCxnSpPr>
        <p:spPr>
          <a:xfrm xmlns:a="http://schemas.openxmlformats.org/drawingml/2006/main">
            <a:off x="8172450" y="2371725"/>
            <a:ext cx="32766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BC2CC"/>
            </a:solidFill>
            <a:prstDash val="solid"/>
          </a:ln>
        </p:spPr>
      </p:cxnSp>
      <p:sp>
        <p:nvSpPr>
          <p:cNvPr id="38" name="execution-route">
            <a:extLst xmlns:a="http://schemas.openxmlformats.org/drawingml/2006/main">
              <a:ext uri="{FF2B5EF4-FFF2-40B4-BE49-F238E27FC236}">
                <a16:creationId xmlns:a16="http://schemas.microsoft.com/office/drawing/2014/main" id="{2449AE93-EE87-4E07-BC38-96D1842AF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457450"/>
            <a:ext cx="32766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A5672"/>
                </a:solidFill>
                <a:latin typeface="Arial"/>
                <a:ea typeface="Arial"/>
                <a:cs typeface="Arial"/>
              </a:defRPr>
            </a:pPr>
            <a:r>
              <a:t>POST /verify-token</a:t>
            </a:r>
          </a:p>
        </p:txBody>
      </p:sp>
      <p:sp>
        <p:nvSpPr>
          <p:cNvPr id="39" name="execution-inputs">
            <a:extLst xmlns:a="http://schemas.openxmlformats.org/drawingml/2006/main">
              <a:ext uri="{FF2B5EF4-FFF2-40B4-BE49-F238E27FC236}">
                <a16:creationId xmlns:a16="http://schemas.microsoft.com/office/drawing/2014/main" id="{BF8E1925-19C2-44F9-8289-9B66D5EF2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762250"/>
            <a:ext cx="32766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All action inputs + consume: true</a:t>
            </a:r>
          </a:p>
        </p:txBody>
      </p:sp>
      <p:sp>
        <p:nvSpPr>
          <p:cNvPr id="40" name="execution-proceed">
            <a:extLst xmlns:a="http://schemas.openxmlformats.org/drawingml/2006/main">
              <a:ext uri="{FF2B5EF4-FFF2-40B4-BE49-F238E27FC236}">
                <a16:creationId xmlns:a16="http://schemas.microsoft.com/office/drawing/2014/main" id="{311D4E85-016C-41BD-AB53-A37C4CEC2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048000"/>
            <a:ext cx="32766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Execute only when valid: true</a:t>
            </a:r>
          </a:p>
        </p:txBody>
      </p:sp>
      <p:sp>
        <p:nvSpPr>
          <p:cNvPr id="41" name="execution-stop">
            <a:extLst xmlns:a="http://schemas.openxmlformats.org/drawingml/2006/main">
              <a:ext uri="{FF2B5EF4-FFF2-40B4-BE49-F238E27FC236}">
                <a16:creationId xmlns:a16="http://schemas.microsoft.com/office/drawing/2014/main" id="{24A27C82-543C-4B6F-8AFA-D7FD81D68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352800"/>
            <a:ext cx="32766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86309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t>Otherwise stop. The executor creates the enforcement boundary.</a:t>
            </a:r>
          </a:p>
        </p:txBody>
      </p:sp>
      <p:sp>
        <p:nvSpPr>
          <p:cNvPr id="42" name="callback-label">
            <a:extLst xmlns:a="http://schemas.openxmlformats.org/drawingml/2006/main">
              <a:ext uri="{FF2B5EF4-FFF2-40B4-BE49-F238E27FC236}">
                <a16:creationId xmlns:a16="http://schemas.microsoft.com/office/drawing/2014/main" id="{F0B97579-6018-4F27-BF0D-976309B99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86200"/>
            <a:ext cx="2667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318"/>
          </a:solidFill>
          <a:ln xmlns:a="http://schemas.openxmlformats.org/drawingml/2006/main" w="0">
            <a:solidFill>
              <a:srgbClr val="101318"/>
            </a:solidFill>
            <a:prstDash val="solid"/>
          </a:ln>
        </p:spPr>
      </p:sp>
      <p:sp>
        <p:nvSpPr>
          <p:cNvPr id="43" name="callback-title">
            <a:extLst xmlns:a="http://schemas.openxmlformats.org/drawingml/2006/main">
              <a:ext uri="{FF2B5EF4-FFF2-40B4-BE49-F238E27FC236}">
                <a16:creationId xmlns:a16="http://schemas.microsoft.com/office/drawing/2014/main" id="{63BFFB48-48B5-413C-8A5C-8C4A88F32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971925"/>
            <a:ext cx="2190750" cy="1809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t>CONFIGURED WEBHOOK</a:t>
            </a:r>
          </a:p>
        </p:txBody>
      </p:sp>
      <p:sp>
        <p:nvSpPr>
          <p:cNvPr id="44" name="callback-direction">
            <a:extLst xmlns:a="http://schemas.openxmlformats.org/drawingml/2006/main">
              <a:ext uri="{FF2B5EF4-FFF2-40B4-BE49-F238E27FC236}">
                <a16:creationId xmlns:a16="http://schemas.microsoft.com/office/drawing/2014/main" id="{C5E4B798-2562-4E2E-AE88-592A1CD58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943350"/>
            <a:ext cx="2286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t>←</a:t>
            </a:r>
          </a:p>
        </p:txBody>
      </p:sp>
      <p:sp>
        <p:nvSpPr>
          <p:cNvPr id="45" name="callback-body">
            <a:extLst xmlns:a="http://schemas.openxmlformats.org/drawingml/2006/main">
              <a:ext uri="{FF2B5EF4-FFF2-40B4-BE49-F238E27FC236}">
                <a16:creationId xmlns:a16="http://schemas.microsoft.com/office/drawing/2014/main" id="{C1C238FF-CF35-41F5-ABB2-52F94D9B4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886200"/>
            <a:ext cx="8534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7"/>
          </a:solidFill>
          <a:ln xmlns:a="http://schemas.openxmlformats.org/drawingml/2006/main" w="0">
            <a:solidFill>
              <a:srgbClr val="F3F5F7"/>
            </a:solidFill>
            <a:prstDash val="solid"/>
          </a:ln>
        </p:spPr>
      </p:sp>
      <p:sp>
        <p:nvSpPr>
          <p:cNvPr id="46" name="callback-copy">
            <a:extLst xmlns:a="http://schemas.openxmlformats.org/drawingml/2006/main">
              <a:ext uri="{FF2B5EF4-FFF2-40B4-BE49-F238E27FC236}">
                <a16:creationId xmlns:a16="http://schemas.microsoft.com/office/drawing/2014/main" id="{BB216063-CA1F-424B-B77A-EB6DC88A3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971925"/>
            <a:ext cx="80962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MTP returns event, verdict, audit ID and reason to Cordant. Receipt and proof remain separate fetches.</a:t>
            </a:r>
          </a:p>
        </p:txBody>
      </p:sp>
      <p:sp>
        <p:nvSpPr>
          <p:cNvPr id="47" name="pack-flow-caption">
            <a:extLst xmlns:a="http://schemas.openxmlformats.org/drawingml/2006/main">
              <a:ext uri="{FF2B5EF4-FFF2-40B4-BE49-F238E27FC236}">
                <a16:creationId xmlns:a16="http://schemas.microsoft.com/office/drawing/2014/main" id="{3378091C-080D-481A-B529-C58FE46C0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933950"/>
            <a:ext cx="361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72270"/>
          </a:bodyPr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t>EXPORT + ASSEMBLE</a:t>
            </a:r>
          </a:p>
        </p:txBody>
      </p:sp>
      <p:sp>
        <p:nvSpPr>
          <p:cNvPr id="48" name="pack-flow-arrow">
            <a:extLst xmlns:a="http://schemas.openxmlformats.org/drawingml/2006/main">
              <a:ext uri="{FF2B5EF4-FFF2-40B4-BE49-F238E27FC236}">
                <a16:creationId xmlns:a16="http://schemas.microsoft.com/office/drawing/2014/main" id="{02D2CAFD-37D5-4AEE-B58C-7A17DF509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191125"/>
            <a:ext cx="3619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→</a:t>
            </a:r>
          </a:p>
        </p:txBody>
      </p:sp>
      <p:sp>
        <p:nvSpPr>
          <p:cNvPr id="49" name="verify-flow-caption">
            <a:extLst xmlns:a="http://schemas.openxmlformats.org/drawingml/2006/main">
              <a:ext uri="{FF2B5EF4-FFF2-40B4-BE49-F238E27FC236}">
                <a16:creationId xmlns:a16="http://schemas.microsoft.com/office/drawing/2014/main" id="{A1DDC28E-2B5D-4D7E-8883-7FB808146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933950"/>
            <a:ext cx="361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78892"/>
          </a:bodyPr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t>DELIVER PACK</a:t>
            </a:r>
          </a:p>
        </p:txBody>
      </p:sp>
      <p:sp>
        <p:nvSpPr>
          <p:cNvPr id="50" name="verify-flow-arrow">
            <a:extLst xmlns:a="http://schemas.openxmlformats.org/drawingml/2006/main">
              <a:ext uri="{FF2B5EF4-FFF2-40B4-BE49-F238E27FC236}">
                <a16:creationId xmlns:a16="http://schemas.microsoft.com/office/drawing/2014/main" id="{034B7391-0107-4A9C-AB17-6A473C78F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191125"/>
            <a:ext cx="3619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168A68"/>
                </a:solidFill>
                <a:latin typeface="Arial"/>
                <a:ea typeface="Arial"/>
                <a:cs typeface="Arial"/>
              </a:defRPr>
            </a:pPr>
            <a:r>
              <a:t>→</a:t>
            </a:r>
          </a:p>
        </p:txBody>
      </p:sp>
      <p:sp>
        <p:nvSpPr>
          <p:cNvPr id="51" name="evidence-panel">
            <a:extLst xmlns:a="http://schemas.openxmlformats.org/drawingml/2006/main">
              <a:ext uri="{FF2B5EF4-FFF2-40B4-BE49-F238E27FC236}">
                <a16:creationId xmlns:a16="http://schemas.microsoft.com/office/drawing/2014/main" id="{25C00943-FF7E-4E8F-9A9A-495D3EAE5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591050"/>
            <a:ext cx="35242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FD"/>
          </a:solidFill>
          <a:ln xmlns:a="http://schemas.openxmlformats.org/drawingml/2006/main" w="14288">
            <a:solidFill>
              <a:srgbClr val="3D8DFF"/>
            </a:solidFill>
            <a:prstDash val="solid"/>
          </a:ln>
        </p:spPr>
      </p:sp>
      <p:sp>
        <p:nvSpPr>
          <p:cNvPr id="52" name="evidence-plane">
            <a:extLst xmlns:a="http://schemas.openxmlformats.org/drawingml/2006/main">
              <a:ext uri="{FF2B5EF4-FFF2-40B4-BE49-F238E27FC236}">
                <a16:creationId xmlns:a16="http://schemas.microsoft.com/office/drawing/2014/main" id="{A2C15749-28FF-456C-801D-DFB170F89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05350"/>
            <a:ext cx="31051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A5672"/>
                </a:solidFill>
                <a:latin typeface="Arial"/>
                <a:ea typeface="Arial"/>
                <a:cs typeface="Arial"/>
              </a:defRPr>
            </a:pPr>
            <a:r>
              <a:t>MTP EVIDENCE PIPELINE</a:t>
            </a:r>
          </a:p>
        </p:txBody>
      </p:sp>
      <p:sp>
        <p:nvSpPr>
          <p:cNvPr id="53" name="evidence-title">
            <a:extLst xmlns:a="http://schemas.openxmlformats.org/drawingml/2006/main">
              <a:ext uri="{FF2B5EF4-FFF2-40B4-BE49-F238E27FC236}">
                <a16:creationId xmlns:a16="http://schemas.microsoft.com/office/drawing/2014/main" id="{21F0885C-E535-49B1-BE5D-67C7205AB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05375"/>
            <a:ext cx="31051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945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AUDIT, RECEIPT + BASE PROOF</a:t>
            </a:r>
          </a:p>
        </p:txBody>
      </p:sp>
      <p:sp>
        <p:nvSpPr>
          <p:cNvPr id="54" name="evidence-receipt-dot">
            <a:extLst xmlns:a="http://schemas.openxmlformats.org/drawingml/2006/main">
              <a:ext uri="{FF2B5EF4-FFF2-40B4-BE49-F238E27FC236}">
                <a16:creationId xmlns:a16="http://schemas.microsoft.com/office/drawing/2014/main" id="{2E809A21-6BCC-45D7-A4F3-08D84BCFE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959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55" name="evidence-receipt-text">
            <a:extLst xmlns:a="http://schemas.openxmlformats.org/drawingml/2006/main">
              <a:ext uri="{FF2B5EF4-FFF2-40B4-BE49-F238E27FC236}">
                <a16:creationId xmlns:a16="http://schemas.microsoft.com/office/drawing/2014/main" id="{057F8A79-B041-4769-B3D2-AD63134B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219700"/>
            <a:ext cx="2943225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Audit log → public receipt</a:t>
            </a:r>
          </a:p>
        </p:txBody>
      </p:sp>
      <p:sp>
        <p:nvSpPr>
          <p:cNvPr id="56" name="evidence-anchor-dot">
            <a:extLst xmlns:a="http://schemas.openxmlformats.org/drawingml/2006/main">
              <a:ext uri="{FF2B5EF4-FFF2-40B4-BE49-F238E27FC236}">
                <a16:creationId xmlns:a16="http://schemas.microsoft.com/office/drawing/2014/main" id="{0D450ACD-9680-4670-B9BB-DD87148E9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626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57" name="evidence-anchor-text">
            <a:extLst xmlns:a="http://schemas.openxmlformats.org/drawingml/2006/main">
              <a:ext uri="{FF2B5EF4-FFF2-40B4-BE49-F238E27FC236}">
                <a16:creationId xmlns:a16="http://schemas.microsoft.com/office/drawing/2014/main" id="{2690A243-A1ED-4366-A778-B47F83543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486400"/>
            <a:ext cx="2943225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Eligible logs → Merkle root → Base 8453</a:t>
            </a:r>
          </a:p>
        </p:txBody>
      </p:sp>
      <p:sp>
        <p:nvSpPr>
          <p:cNvPr id="58" name="evidence-proof">
            <a:extLst xmlns:a="http://schemas.openxmlformats.org/drawingml/2006/main">
              <a:ext uri="{FF2B5EF4-FFF2-40B4-BE49-F238E27FC236}">
                <a16:creationId xmlns:a16="http://schemas.microsoft.com/office/drawing/2014/main" id="{9704A062-672B-4C2F-A650-0D85D36E3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91200"/>
            <a:ext cx="31051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82333"/>
          </a:bodyPr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0A5672"/>
                </a:solidFill>
                <a:latin typeface="Arial"/>
                <a:ea typeface="Arial"/>
                <a:cs typeface="Arial"/>
              </a:defRPr>
            </a:pPr>
            <a:r>
              <a:t>Proof endpoint reports pending, failed, sandbox or anchored.</a:t>
            </a:r>
          </a:p>
        </p:txBody>
      </p:sp>
      <p:sp>
        <p:nvSpPr>
          <p:cNvPr id="59" name="pack-panel">
            <a:extLst xmlns:a="http://schemas.openxmlformats.org/drawingml/2006/main">
              <a:ext uri="{FF2B5EF4-FFF2-40B4-BE49-F238E27FC236}">
                <a16:creationId xmlns:a16="http://schemas.microsoft.com/office/drawing/2014/main" id="{E3B5B3B7-3E37-40B0-8D0C-5D8912036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591050"/>
            <a:ext cx="28575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40"/>
          </a:solidFill>
          <a:ln xmlns:a="http://schemas.openxmlformats.org/drawingml/2006/main" w="0">
            <a:solidFill>
              <a:srgbClr val="253040"/>
            </a:solidFill>
            <a:prstDash val="solid"/>
          </a:ln>
        </p:spPr>
      </p:sp>
      <p:sp>
        <p:nvSpPr>
          <p:cNvPr id="60" name="pack-accent">
            <a:extLst xmlns:a="http://schemas.openxmlformats.org/drawingml/2006/main">
              <a:ext uri="{FF2B5EF4-FFF2-40B4-BE49-F238E27FC236}">
                <a16:creationId xmlns:a16="http://schemas.microsoft.com/office/drawing/2014/main" id="{D6021316-ED65-4BBD-9683-E9667E803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591050"/>
            <a:ext cx="66675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solidFill>
              <a:srgbClr val="6DCBF4"/>
            </a:solidFill>
            <a:prstDash val="solid"/>
          </a:ln>
        </p:spPr>
      </p:sp>
      <p:sp>
        <p:nvSpPr>
          <p:cNvPr id="61" name="pack-plane">
            <a:extLst xmlns:a="http://schemas.openxmlformats.org/drawingml/2006/main">
              <a:ext uri="{FF2B5EF4-FFF2-40B4-BE49-F238E27FC236}">
                <a16:creationId xmlns:a16="http://schemas.microsoft.com/office/drawing/2014/main" id="{518D90D2-04F5-4E75-B5CD-7962E2202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705350"/>
            <a:ext cx="24193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t>OPERATOR RUN  |  OFFLINE</a:t>
            </a:r>
          </a:p>
        </p:txBody>
      </p:sp>
      <p:sp>
        <p:nvSpPr>
          <p:cNvPr id="62" name="pack-title">
            <a:extLst xmlns:a="http://schemas.openxmlformats.org/drawingml/2006/main">
              <a:ext uri="{FF2B5EF4-FFF2-40B4-BE49-F238E27FC236}">
                <a16:creationId xmlns:a16="http://schemas.microsoft.com/office/drawing/2014/main" id="{B11837E5-A0DA-45D5-86AB-79B2D7C74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905375"/>
            <a:ext cx="24193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EVIDENCE PACK</a:t>
            </a:r>
          </a:p>
        </p:txBody>
      </p:sp>
      <p:sp>
        <p:nvSpPr>
          <p:cNvPr id="63" name="pack-custody-dot">
            <a:extLst xmlns:a="http://schemas.openxmlformats.org/drawingml/2006/main">
              <a:ext uri="{FF2B5EF4-FFF2-40B4-BE49-F238E27FC236}">
                <a16:creationId xmlns:a16="http://schemas.microsoft.com/office/drawing/2014/main" id="{97111617-2BC8-4D7C-94AF-6193DDA05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52959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solidFill>
              <a:srgbClr val="6DCBF4"/>
            </a:solidFill>
            <a:prstDash val="solid"/>
          </a:ln>
        </p:spPr>
      </p:sp>
      <p:sp>
        <p:nvSpPr>
          <p:cNvPr id="64" name="pack-custody-text">
            <a:extLst xmlns:a="http://schemas.openxmlformats.org/drawingml/2006/main">
              <a:ext uri="{FF2B5EF4-FFF2-40B4-BE49-F238E27FC236}">
                <a16:creationId xmlns:a16="http://schemas.microsoft.com/office/drawing/2014/main" id="{1795598D-CEBC-489B-B796-0076324DA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5219700"/>
            <a:ext cx="2257425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D9E0E9"/>
                </a:solidFill>
                <a:latin typeface="Arial"/>
                <a:ea typeface="Arial"/>
                <a:cs typeface="Arial"/>
              </a:defRPr>
            </a:pPr>
            <a:r>
              <a:t>Recheck custody hashes</a:t>
            </a:r>
          </a:p>
        </p:txBody>
      </p:sp>
      <p:sp>
        <p:nvSpPr>
          <p:cNvPr id="65" name="pack-content-dot">
            <a:extLst xmlns:a="http://schemas.openxmlformats.org/drawingml/2006/main">
              <a:ext uri="{FF2B5EF4-FFF2-40B4-BE49-F238E27FC236}">
                <a16:creationId xmlns:a16="http://schemas.microsoft.com/office/drawing/2014/main" id="{B36C2018-1D84-4BA1-9C31-F0D2EB777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55626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solidFill>
              <a:srgbClr val="6DCBF4"/>
            </a:solidFill>
            <a:prstDash val="solid"/>
          </a:ln>
        </p:spPr>
      </p:sp>
      <p:sp>
        <p:nvSpPr>
          <p:cNvPr id="66" name="pack-content-text">
            <a:extLst xmlns:a="http://schemas.openxmlformats.org/drawingml/2006/main">
              <a:ext uri="{FF2B5EF4-FFF2-40B4-BE49-F238E27FC236}">
                <a16:creationId xmlns:a16="http://schemas.microsoft.com/office/drawing/2014/main" id="{D6274432-845F-47D2-B152-B68CEB1BF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5486400"/>
            <a:ext cx="2257425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D9E0E9"/>
                </a:solidFill>
                <a:latin typeface="Arial"/>
                <a:ea typeface="Arial"/>
                <a:cs typeface="Arial"/>
              </a:defRPr>
            </a:pPr>
            <a:r>
              <a:t>Add receipts, proofs and evidence</a:t>
            </a:r>
          </a:p>
        </p:txBody>
      </p:sp>
      <p:sp>
        <p:nvSpPr>
          <p:cNvPr id="67" name="pack-signature">
            <a:extLst xmlns:a="http://schemas.openxmlformats.org/drawingml/2006/main">
              <a:ext uri="{FF2B5EF4-FFF2-40B4-BE49-F238E27FC236}">
                <a16:creationId xmlns:a16="http://schemas.microsoft.com/office/drawing/2014/main" id="{5870AC0A-152F-4B63-A7BB-D3C324BF6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5762625"/>
            <a:ext cx="24193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70953"/>
          </a:bodyPr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Sign JCS manifest with a separate Ed25519 key. ZIP is packaging.</a:t>
            </a:r>
          </a:p>
        </p:txBody>
      </p:sp>
      <p:sp>
        <p:nvSpPr>
          <p:cNvPr id="68" name="verify-panel">
            <a:extLst xmlns:a="http://schemas.openxmlformats.org/drawingml/2006/main">
              <a:ext uri="{FF2B5EF4-FFF2-40B4-BE49-F238E27FC236}">
                <a16:creationId xmlns:a16="http://schemas.microsoft.com/office/drawing/2014/main" id="{E4894DB3-89AE-44C0-82E8-318A2C51A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591050"/>
            <a:ext cx="40957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8F4"/>
          </a:solidFill>
          <a:ln xmlns:a="http://schemas.openxmlformats.org/drawingml/2006/main" w="14288">
            <a:solidFill>
              <a:srgbClr val="168A68"/>
            </a:solidFill>
            <a:prstDash val="solid"/>
          </a:ln>
        </p:spPr>
      </p:sp>
      <p:sp>
        <p:nvSpPr>
          <p:cNvPr id="69" name="verify-accent">
            <a:extLst xmlns:a="http://schemas.openxmlformats.org/drawingml/2006/main">
              <a:ext uri="{FF2B5EF4-FFF2-40B4-BE49-F238E27FC236}">
                <a16:creationId xmlns:a16="http://schemas.microsoft.com/office/drawing/2014/main" id="{791ABE4F-2867-44EF-B356-8405A6DB3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591050"/>
            <a:ext cx="66675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68"/>
          </a:solidFill>
          <a:ln xmlns:a="http://schemas.openxmlformats.org/drawingml/2006/main" w="0">
            <a:solidFill>
              <a:srgbClr val="168A68"/>
            </a:solidFill>
            <a:prstDash val="solid"/>
          </a:ln>
        </p:spPr>
      </p:sp>
      <p:sp>
        <p:nvSpPr>
          <p:cNvPr id="70" name="verify-plane">
            <a:extLst xmlns:a="http://schemas.openxmlformats.org/drawingml/2006/main">
              <a:ext uri="{FF2B5EF4-FFF2-40B4-BE49-F238E27FC236}">
                <a16:creationId xmlns:a16="http://schemas.microsoft.com/office/drawing/2014/main" id="{4D97FE25-46AD-46F9-AFAF-9CE297B86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705350"/>
            <a:ext cx="36004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D5D48"/>
                </a:solidFill>
                <a:latin typeface="Arial"/>
                <a:ea typeface="Arial"/>
                <a:cs typeface="Arial"/>
              </a:defRPr>
            </a:pPr>
            <a:r>
              <a:t>INDEPENDENT PUBLIC VERIFIER</a:t>
            </a:r>
          </a:p>
        </p:txBody>
      </p:sp>
      <p:sp>
        <p:nvSpPr>
          <p:cNvPr id="71" name="verify-title">
            <a:extLst xmlns:a="http://schemas.openxmlformats.org/drawingml/2006/main">
              <a:ext uri="{FF2B5EF4-FFF2-40B4-BE49-F238E27FC236}">
                <a16:creationId xmlns:a16="http://schemas.microsoft.com/office/drawing/2014/main" id="{C7318A62-86BB-421C-8356-79EBE2678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905375"/>
            <a:ext cx="36004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INNTRIS VERIFY</a:t>
            </a:r>
          </a:p>
        </p:txBody>
      </p:sp>
      <p:sp>
        <p:nvSpPr>
          <p:cNvPr id="72" name="verify-key-dot">
            <a:extLst xmlns:a="http://schemas.openxmlformats.org/drawingml/2006/main">
              <a:ext uri="{FF2B5EF4-FFF2-40B4-BE49-F238E27FC236}">
                <a16:creationId xmlns:a16="http://schemas.microsoft.com/office/drawing/2014/main" id="{9C6D5B23-DFC1-4342-95B8-5D1B40B02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2959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A68"/>
          </a:solidFill>
          <a:ln xmlns:a="http://schemas.openxmlformats.org/drawingml/2006/main" w="0">
            <a:solidFill>
              <a:srgbClr val="168A68"/>
            </a:solidFill>
            <a:prstDash val="solid"/>
          </a:ln>
        </p:spPr>
      </p:sp>
      <p:sp>
        <p:nvSpPr>
          <p:cNvPr id="73" name="verify-key-text">
            <a:extLst xmlns:a="http://schemas.openxmlformats.org/drawingml/2006/main">
              <a:ext uri="{FF2B5EF4-FFF2-40B4-BE49-F238E27FC236}">
                <a16:creationId xmlns:a16="http://schemas.microsoft.com/office/drawing/2014/main" id="{6472878B-3C07-42E7-9EC1-AFAB1C6B9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219700"/>
            <a:ext cx="3438525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Pin key from KEYS.md and its mirror</a:t>
            </a:r>
          </a:p>
        </p:txBody>
      </p:sp>
      <p:sp>
        <p:nvSpPr>
          <p:cNvPr id="74" name="verify-manifest-dot">
            <a:extLst xmlns:a="http://schemas.openxmlformats.org/drawingml/2006/main">
              <a:ext uri="{FF2B5EF4-FFF2-40B4-BE49-F238E27FC236}">
                <a16:creationId xmlns:a16="http://schemas.microsoft.com/office/drawing/2014/main" id="{A61847D5-5563-4993-B41C-580622B03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5626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A68"/>
          </a:solidFill>
          <a:ln xmlns:a="http://schemas.openxmlformats.org/drawingml/2006/main" w="0">
            <a:solidFill>
              <a:srgbClr val="168A68"/>
            </a:solidFill>
            <a:prstDash val="solid"/>
          </a:ln>
        </p:spPr>
      </p:sp>
      <p:sp>
        <p:nvSpPr>
          <p:cNvPr id="75" name="verify-manifest-text">
            <a:extLst xmlns:a="http://schemas.openxmlformats.org/drawingml/2006/main">
              <a:ext uri="{FF2B5EF4-FFF2-40B4-BE49-F238E27FC236}">
                <a16:creationId xmlns:a16="http://schemas.microsoft.com/office/drawing/2014/main" id="{33AB2685-7F2C-43D7-A5D1-A1B05256E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486400"/>
            <a:ext cx="3438525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Verify manifest signature + every file SHA256</a:t>
            </a:r>
          </a:p>
        </p:txBody>
      </p:sp>
      <p:sp>
        <p:nvSpPr>
          <p:cNvPr id="76" name="verify-final">
            <a:extLst xmlns:a="http://schemas.openxmlformats.org/drawingml/2006/main">
              <a:ext uri="{FF2B5EF4-FFF2-40B4-BE49-F238E27FC236}">
                <a16:creationId xmlns:a16="http://schemas.microsoft.com/office/drawing/2014/main" id="{C6E8F0DF-ED64-41A9-996F-A3590AF99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762625"/>
            <a:ext cx="36004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70953"/>
          </a:bodyPr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0D5D48"/>
                </a:solidFill>
                <a:latin typeface="Arial"/>
                <a:ea typeface="Arial"/>
                <a:cs typeface="Arial"/>
              </a:defRPr>
            </a:pPr>
            <a:r>
              <a:t>Check receipts, agent signatures and Merkle proofs. Optional Base RPC is chosen by the verifier.</a:t>
            </a:r>
          </a:p>
        </p:txBody>
      </p:sp>
      <p:sp>
        <p:nvSpPr>
          <p:cNvPr id="77" name="architecture-boundary">
            <a:extLst xmlns:a="http://schemas.openxmlformats.org/drawingml/2006/main">
              <a:ext uri="{FF2B5EF4-FFF2-40B4-BE49-F238E27FC236}">
                <a16:creationId xmlns:a16="http://schemas.microsoft.com/office/drawing/2014/main" id="{351DF189-B320-45D5-85F0-04317F5B7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62675"/>
            <a:ext cx="112014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Boundary: Cordant and executor adapters remain integration work. MTP and Inntris Verify are implemented code paths.</a:t>
            </a:r>
          </a:p>
        </p:txBody>
      </p:sp>
      <p:sp>
        <p:nvSpPr>
          <p:cNvPr id="78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48C23C5D-D667-49D2-98CB-32E9D3673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96050"/>
            <a:ext cx="10572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t>Code basis: MTP 7e0bf71  |  api/main.py, api/webhooks.py, workers/anchor_worker.py, evidence_pack/  |  Inntris Verify f3e8524  |  Cordant adapter proposed</a:t>
            </a:r>
          </a:p>
        </p:txBody>
      </p:sp>
      <p:sp>
        <p:nvSpPr>
          <p:cNvPr id="79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99236A82-7201-4C52-A294-F476A5D34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67475"/>
            <a:ext cx="419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5085054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2026-07-23T08:12:23.9560000Z</dcterms:created>
  <dcterms:modified xsi:type="dcterms:W3CDTF">2026-07-23T08:12:23.9560000Z</dcterms:modified>
</coreProperties>
</file>