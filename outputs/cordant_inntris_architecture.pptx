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01d4c0dc934664" /><Relationship Type="http://schemas.openxmlformats.org/officeDocument/2006/relationships/extended-properties" Target="/docProps/app.xml" Id="R28f39e4e57ed41b0" /><Relationship Type="http://schemas.openxmlformats.org/officeDocument/2006/relationships/officeDocument" Target="/ppt/presentation.xml" Id="Rdcc3e8ff03c947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d369d8737c8405a"/>
  </p:sldMasterIdLst>
  <p:notesMasterIdLst>
    <p:notesMasterId xmlns:r="http://schemas.openxmlformats.org/officeDocument/2006/relationships" r:id="Rcb47ebe1e7c648f3"/>
  </p:notesMasterIdLst>
  <p:sldIdLst>
    <p:sldId xmlns:r="http://schemas.openxmlformats.org/officeDocument/2006/relationships" id="256" r:id="R939025f3ca6b457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8e7fd78b2a4bd7" /><Relationship Type="http://schemas.openxmlformats.org/officeDocument/2006/relationships/slideMaster" Target="/ppt/slideMasters/slideMaster1.xml" Id="Rad369d8737c8405a" /><Relationship Type="http://schemas.openxmlformats.org/officeDocument/2006/relationships/notesMaster" Target="/ppt/notesMasters/notesMaster1.xml" Id="Rcb47ebe1e7c648f3" /><Relationship Type="http://schemas.openxmlformats.org/officeDocument/2006/relationships/presProps" Target="/ppt/presProps.xml" Id="Re34c1ebbff604fd0" /><Relationship Type="http://schemas.openxmlformats.org/officeDocument/2006/relationships/tableStyles" Target="/ppt/tableStyles.xml" Id="R87276f1d805a4e54" /><Relationship Type="http://schemas.openxmlformats.org/officeDocument/2006/relationships/slide" Target="/ppt/slides/slide1.xml" Id="R939025f3ca6b45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cdac34cfe4347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44f65a0fc8943fb" /><Relationship Type="http://schemas.openxmlformats.org/officeDocument/2006/relationships/notesMaster" Target="/ppt/notesMasters/notesMaster1.xml" Id="R40929b363e624f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9151eacae541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da68a0e5e24a45" /><Relationship Type="http://schemas.openxmlformats.org/officeDocument/2006/relationships/slideLayout" Target="/ppt/slideLayouts/slideLayout1.xml" Id="Re92023111a154f7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2023111a154f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dd2c1b299642b5" /><Relationship Type="http://schemas.openxmlformats.org/officeDocument/2006/relationships/notesSlide" Target="/ppt/notesSlides/notesSlide1.xml" Id="Rb220f64b41fb4ed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canvas">
            <a:extLst xmlns:a="http://schemas.openxmlformats.org/drawingml/2006/main">
              <a:ext uri="{FF2B5EF4-FFF2-40B4-BE49-F238E27FC236}">
                <a16:creationId xmlns:a16="http://schemas.microsoft.com/office/drawing/2014/main" id="{F20A66C2-9082-4A84-AC85-0D296A12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0D0F839-9504-4023-8DFC-B03B8867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"/>
            <a:ext cx="8763000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CORDANT × INNTRIS REFERENCE ARCHITECTURE  |  CORDANT ADAPTER PROPOSED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AF45BE50-89E1-47F5-BCFF-B249D9FC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9575"/>
            <a:ext cx="112014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Inntris authorises the action. The executor enforces it.
Inntris Verify checks the evidence.</a:t>
            </a:r>
          </a:p>
        </p:txBody>
      </p:sp>
      <p:sp>
        <p:nvSpPr>
          <p:cNvPr id="4" name="subhead">
            <a:extLst xmlns:a="http://schemas.openxmlformats.org/drawingml/2006/main">
              <a:ext uri="{FF2B5EF4-FFF2-40B4-BE49-F238E27FC236}">
                <a16:creationId xmlns:a16="http://schemas.microsoft.com/office/drawing/2014/main" id="{35E63D06-6195-4094-8A0A-AB8FAEA7D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33475"/>
            <a:ext cx="109061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895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Cordant supplies the proposed context; Inntris MTP returns an allow or deny decision; the executor enforces it;
an operator-signed evidence pack can be verified offline without calling Inntris.</a:t>
            </a:r>
          </a:p>
        </p:txBody>
      </p:sp>
      <p:cxnSp>
        <p:nvCxnSpPr>
          <p:cNvPr id="84" name="title-rule"/>
          <p:cNvCxnSpPr/>
          <p:nvPr/>
        </p:nvCxnSpPr>
        <p:spPr>
          <a:xfrm xmlns:a="http://schemas.openxmlformats.org/drawingml/2006/main">
            <a:off x="495300" y="1543050"/>
            <a:ext cx="112014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B0F14"/>
            </a:solidFill>
            <a:prstDash val="solid"/>
          </a:ln>
        </p:spPr>
      </p:cxnSp>
      <p:sp>
        <p:nvSpPr>
          <p:cNvPr id="6" name="intent-flow-caption">
            <a:extLst xmlns:a="http://schemas.openxmlformats.org/drawingml/2006/main">
              <a:ext uri="{FF2B5EF4-FFF2-40B4-BE49-F238E27FC236}">
                <a16:creationId xmlns:a16="http://schemas.microsoft.com/office/drawing/2014/main" id="{D10FA7C1-7B22-48A1-80AD-A859A0CCB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314575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66516"/>
          </a:bodyPr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SIGNED ACTION
INTENT</a:t>
            </a:r>
          </a:p>
        </p:txBody>
      </p:sp>
      <p:sp>
        <p:nvSpPr>
          <p:cNvPr id="7" name="intent-flow-arrow">
            <a:extLst xmlns:a="http://schemas.openxmlformats.org/drawingml/2006/main">
              <a:ext uri="{FF2B5EF4-FFF2-40B4-BE49-F238E27FC236}">
                <a16:creationId xmlns:a16="http://schemas.microsoft.com/office/drawing/2014/main" id="{9A871E9A-FA22-420A-B192-A9163582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71750"/>
            <a:ext cx="476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→</a:t>
            </a:r>
          </a:p>
        </p:txBody>
      </p:sp>
      <p:sp>
        <p:nvSpPr>
          <p:cNvPr id="8" name="decision-flow-caption">
            <a:extLst xmlns:a="http://schemas.openxmlformats.org/drawingml/2006/main">
              <a:ext uri="{FF2B5EF4-FFF2-40B4-BE49-F238E27FC236}">
                <a16:creationId xmlns:a16="http://schemas.microsoft.com/office/drawing/2014/main" id="{CA6B8578-CBB4-4712-9A9E-C6A5E61C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14575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70966"/>
          </a:bodyPr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ALLOW TOKEN
OR DENY</a:t>
            </a:r>
          </a:p>
        </p:txBody>
      </p:sp>
      <p:sp>
        <p:nvSpPr>
          <p:cNvPr id="9" name="decision-flow-arrow">
            <a:extLst xmlns:a="http://schemas.openxmlformats.org/drawingml/2006/main">
              <a:ext uri="{FF2B5EF4-FFF2-40B4-BE49-F238E27FC236}">
                <a16:creationId xmlns:a16="http://schemas.microsoft.com/office/drawing/2014/main" id="{25D65177-554F-4BBD-AF86-BC2D84AF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571750"/>
            <a:ext cx="476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→</a:t>
            </a:r>
          </a:p>
        </p:txBody>
      </p:sp>
      <p:sp>
        <p:nvSpPr>
          <p:cNvPr id="10" name="cordant-panel">
            <a:extLst xmlns:a="http://schemas.openxmlformats.org/drawingml/2006/main">
              <a:ext uri="{FF2B5EF4-FFF2-40B4-BE49-F238E27FC236}">
                <a16:creationId xmlns:a16="http://schemas.microsoft.com/office/drawing/2014/main" id="{ABEF3ACC-0579-446B-8FC6-27ED77A8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57350"/>
            <a:ext cx="266700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101318"/>
            </a:solidFill>
            <a:prstDash val="solid"/>
          </a:ln>
        </p:spPr>
      </p:sp>
      <p:sp>
        <p:nvSpPr>
          <p:cNvPr id="11" name="cordant-accent">
            <a:extLst xmlns:a="http://schemas.openxmlformats.org/drawingml/2006/main">
              <a:ext uri="{FF2B5EF4-FFF2-40B4-BE49-F238E27FC236}">
                <a16:creationId xmlns:a16="http://schemas.microsoft.com/office/drawing/2014/main" id="{65E1F1B9-EEDE-41EB-982C-F98D30AC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57350"/>
            <a:ext cx="66675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2" name="cordant-plane">
            <a:extLst xmlns:a="http://schemas.openxmlformats.org/drawingml/2006/main">
              <a:ext uri="{FF2B5EF4-FFF2-40B4-BE49-F238E27FC236}">
                <a16:creationId xmlns:a16="http://schemas.microsoft.com/office/drawing/2014/main" id="{3B97A085-8722-4BDC-93A2-AA7B558F2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00225"/>
            <a:ext cx="219075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t>PROPOSED CONTEXT ADAPTER</a:t>
            </a:r>
          </a:p>
        </p:txBody>
      </p:sp>
      <p:sp>
        <p:nvSpPr>
          <p:cNvPr id="13" name="cordant-title">
            <a:extLst xmlns:a="http://schemas.openxmlformats.org/drawingml/2006/main">
              <a:ext uri="{FF2B5EF4-FFF2-40B4-BE49-F238E27FC236}">
                <a16:creationId xmlns:a16="http://schemas.microsoft.com/office/drawing/2014/main" id="{4C4A94CC-0DD1-428F-A67B-E60143D9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19300"/>
            <a:ext cx="219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CORDANT</a:t>
            </a:r>
          </a:p>
        </p:txBody>
      </p:sp>
      <p:cxnSp>
        <p:nvCxnSpPr>
          <p:cNvPr id="93" name="cordant-rule"/>
          <p:cNvCxnSpPr/>
          <p:nvPr/>
        </p:nvCxnSpPr>
        <p:spPr>
          <a:xfrm xmlns:a="http://schemas.openxmlformats.org/drawingml/2006/main">
            <a:off x="733425" y="2371725"/>
            <a:ext cx="219075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94251"/>
            </a:solidFill>
            <a:prstDash val="solid"/>
          </a:ln>
        </p:spPr>
      </p:cxnSp>
      <p:sp>
        <p:nvSpPr>
          <p:cNvPr id="15" name="cordant-connect-dot">
            <a:extLst xmlns:a="http://schemas.openxmlformats.org/drawingml/2006/main">
              <a:ext uri="{FF2B5EF4-FFF2-40B4-BE49-F238E27FC236}">
                <a16:creationId xmlns:a16="http://schemas.microsoft.com/office/drawing/2014/main" id="{1CE20C76-8987-45DE-B197-AA69281B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5431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6" name="cordant-connect-text">
            <a:extLst xmlns:a="http://schemas.openxmlformats.org/drawingml/2006/main">
              <a:ext uri="{FF2B5EF4-FFF2-40B4-BE49-F238E27FC236}">
                <a16:creationId xmlns:a16="http://schemas.microsoft.com/office/drawing/2014/main" id="{EDB983E8-3BF9-4217-9033-001E9CB7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66975"/>
            <a:ext cx="20288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9E0E9"/>
                </a:solidFill>
                <a:latin typeface="Arial"/>
                <a:ea typeface="Arial"/>
                <a:cs typeface="Arial"/>
              </a:defRPr>
            </a:pPr>
            <a:r>
              <a:t>Connect financial systems</a:t>
            </a:r>
          </a:p>
        </p:txBody>
      </p:sp>
      <p:sp>
        <p:nvSpPr>
          <p:cNvPr id="17" name="cordant-normalise-dot">
            <a:extLst xmlns:a="http://schemas.openxmlformats.org/drawingml/2006/main">
              <a:ext uri="{FF2B5EF4-FFF2-40B4-BE49-F238E27FC236}">
                <a16:creationId xmlns:a16="http://schemas.microsoft.com/office/drawing/2014/main" id="{EB25A227-047B-42A1-8379-4ACC9A18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38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8" name="cordant-normalise-text">
            <a:extLst xmlns:a="http://schemas.openxmlformats.org/drawingml/2006/main">
              <a:ext uri="{FF2B5EF4-FFF2-40B4-BE49-F238E27FC236}">
                <a16:creationId xmlns:a16="http://schemas.microsoft.com/office/drawing/2014/main" id="{2340829E-FFE6-4A74-BC24-B7E883C2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62250"/>
            <a:ext cx="20288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8284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9E0E9"/>
                </a:solidFill>
                <a:latin typeface="Arial"/>
                <a:ea typeface="Arial"/>
                <a:cs typeface="Arial"/>
              </a:defRPr>
            </a:pPr>
            <a:r>
              <a:t>Normalise and correlate states</a:t>
            </a:r>
          </a:p>
        </p:txBody>
      </p:sp>
      <p:sp>
        <p:nvSpPr>
          <p:cNvPr id="19" name="cordant-propose-dot">
            <a:extLst xmlns:a="http://schemas.openxmlformats.org/drawingml/2006/main">
              <a:ext uri="{FF2B5EF4-FFF2-40B4-BE49-F238E27FC236}">
                <a16:creationId xmlns:a16="http://schemas.microsoft.com/office/drawing/2014/main" id="{D7575764-2FA5-46DD-A112-56B0ED63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1337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20" name="cordant-propose-text">
            <a:extLst xmlns:a="http://schemas.openxmlformats.org/drawingml/2006/main">
              <a:ext uri="{FF2B5EF4-FFF2-40B4-BE49-F238E27FC236}">
                <a16:creationId xmlns:a16="http://schemas.microsoft.com/office/drawing/2014/main" id="{E8A3D3DC-5FCA-4E81-98FA-4785C52F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57525"/>
            <a:ext cx="20288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9E0E9"/>
                </a:solidFill>
                <a:latin typeface="Arial"/>
                <a:ea typeface="Arial"/>
                <a:cs typeface="Arial"/>
              </a:defRPr>
            </a:pPr>
            <a:r>
              <a:t>Propose the guarded action</a:t>
            </a:r>
          </a:p>
        </p:txBody>
      </p:sp>
      <p:sp>
        <p:nvSpPr>
          <p:cNvPr id="21" name="cordant-boundary">
            <a:extLst xmlns:a="http://schemas.openxmlformats.org/drawingml/2006/main">
              <a:ext uri="{FF2B5EF4-FFF2-40B4-BE49-F238E27FC236}">
                <a16:creationId xmlns:a16="http://schemas.microsoft.com/office/drawing/2014/main" id="{8E652715-C645-4FA8-96D4-C17C8285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438525"/>
            <a:ext cx="2190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NOT PRESENT IN MTP CODE</a:t>
            </a:r>
          </a:p>
        </p:txBody>
      </p:sp>
      <p:sp>
        <p:nvSpPr>
          <p:cNvPr id="22" name="mtp-panel">
            <a:extLst xmlns:a="http://schemas.openxmlformats.org/drawingml/2006/main">
              <a:ext uri="{FF2B5EF4-FFF2-40B4-BE49-F238E27FC236}">
                <a16:creationId xmlns:a16="http://schemas.microsoft.com/office/drawing/2014/main" id="{2F63FFB3-069A-4A2E-B48D-9ED6C45C2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657350"/>
            <a:ext cx="381000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D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23" name="mtp-accent">
            <a:extLst xmlns:a="http://schemas.openxmlformats.org/drawingml/2006/main">
              <a:ext uri="{FF2B5EF4-FFF2-40B4-BE49-F238E27FC236}">
                <a16:creationId xmlns:a16="http://schemas.microsoft.com/office/drawing/2014/main" id="{9ECB465B-A68E-43BD-8123-11FA5FEF8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657350"/>
            <a:ext cx="7620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4" name="mtp-plane">
            <a:extLst xmlns:a="http://schemas.openxmlformats.org/drawingml/2006/main">
              <a:ext uri="{FF2B5EF4-FFF2-40B4-BE49-F238E27FC236}">
                <a16:creationId xmlns:a16="http://schemas.microsoft.com/office/drawing/2014/main" id="{BABB6E94-6B8D-41BF-A572-A4357FFE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800225"/>
            <a:ext cx="325755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A5672"/>
                </a:solidFill>
                <a:latin typeface="Arial"/>
                <a:ea typeface="Arial"/>
                <a:cs typeface="Arial"/>
              </a:defRPr>
            </a:pPr>
            <a:r>
              <a:t>IMPLEMENTED LIVE CONTROL PATH</a:t>
            </a:r>
          </a:p>
        </p:txBody>
      </p:sp>
      <p:sp>
        <p:nvSpPr>
          <p:cNvPr id="25" name="mtp-title">
            <a:extLst xmlns:a="http://schemas.openxmlformats.org/drawingml/2006/main">
              <a:ext uri="{FF2B5EF4-FFF2-40B4-BE49-F238E27FC236}">
                <a16:creationId xmlns:a16="http://schemas.microsoft.com/office/drawing/2014/main" id="{4CEB66CC-76CE-4C00-805B-3B72EA828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19300"/>
            <a:ext cx="32575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INNTRIS MTP</a:t>
            </a:r>
          </a:p>
        </p:txBody>
      </p:sp>
      <p:cxnSp>
        <p:nvCxnSpPr>
          <p:cNvPr id="105" name="mtp-rule"/>
          <p:cNvCxnSpPr/>
          <p:nvPr/>
        </p:nvCxnSpPr>
        <p:spPr>
          <a:xfrm xmlns:a="http://schemas.openxmlformats.org/drawingml/2006/main">
            <a:off x="3905250" y="2371725"/>
            <a:ext cx="325755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DCF4"/>
            </a:solidFill>
            <a:prstDash val="solid"/>
          </a:ln>
        </p:spPr>
      </p:cxnSp>
      <p:sp>
        <p:nvSpPr>
          <p:cNvPr id="27" name="mtp-route-dot">
            <a:extLst xmlns:a="http://schemas.openxmlformats.org/drawingml/2006/main">
              <a:ext uri="{FF2B5EF4-FFF2-40B4-BE49-F238E27FC236}">
                <a16:creationId xmlns:a16="http://schemas.microsoft.com/office/drawing/2014/main" id="{156DF979-F978-4A99-B7C6-E7C40CF93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431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8" name="mtp-route-text">
            <a:extLst xmlns:a="http://schemas.openxmlformats.org/drawingml/2006/main">
              <a:ext uri="{FF2B5EF4-FFF2-40B4-BE49-F238E27FC236}">
                <a16:creationId xmlns:a16="http://schemas.microsoft.com/office/drawing/2014/main" id="{FAD79975-9A7E-4BCA-8B8F-2CB896EA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466975"/>
            <a:ext cx="30956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POST /verify</a:t>
            </a:r>
          </a:p>
        </p:txBody>
      </p:sp>
      <p:sp>
        <p:nvSpPr>
          <p:cNvPr id="29" name="mtp-checks-dot">
            <a:extLst xmlns:a="http://schemas.openxmlformats.org/drawingml/2006/main">
              <a:ext uri="{FF2B5EF4-FFF2-40B4-BE49-F238E27FC236}">
                <a16:creationId xmlns:a16="http://schemas.microsoft.com/office/drawing/2014/main" id="{D6DD7570-225C-4DDB-A5A6-1616659EE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38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0" name="mtp-checks-text">
            <a:extLst xmlns:a="http://schemas.openxmlformats.org/drawingml/2006/main">
              <a:ext uri="{FF2B5EF4-FFF2-40B4-BE49-F238E27FC236}">
                <a16:creationId xmlns:a16="http://schemas.microsoft.com/office/drawing/2014/main" id="{06EB2D9B-6763-45FB-B367-1DE4F3ED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762250"/>
            <a:ext cx="30956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Ed25519, replay, policy and limits</a:t>
            </a:r>
          </a:p>
        </p:txBody>
      </p:sp>
      <p:sp>
        <p:nvSpPr>
          <p:cNvPr id="31" name="mtp-decision-dot">
            <a:extLst xmlns:a="http://schemas.openxmlformats.org/drawingml/2006/main">
              <a:ext uri="{FF2B5EF4-FFF2-40B4-BE49-F238E27FC236}">
                <a16:creationId xmlns:a16="http://schemas.microsoft.com/office/drawing/2014/main" id="{5551B488-821B-4D19-BDBB-5F4FD9EE3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337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2" name="mtp-decision-text">
            <a:extLst xmlns:a="http://schemas.openxmlformats.org/drawingml/2006/main">
              <a:ext uri="{FF2B5EF4-FFF2-40B4-BE49-F238E27FC236}">
                <a16:creationId xmlns:a16="http://schemas.microsoft.com/office/drawing/2014/main" id="{5843846E-4EBF-4C69-9DB8-C0D144193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057525"/>
            <a:ext cx="30956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Approval token + audit ID, or deny</a:t>
            </a:r>
          </a:p>
        </p:txBody>
      </p:sp>
      <p:sp>
        <p:nvSpPr>
          <p:cNvPr id="33" name="mtp-invalid">
            <a:extLst xmlns:a="http://schemas.openxmlformats.org/drawingml/2006/main">
              <a:ext uri="{FF2B5EF4-FFF2-40B4-BE49-F238E27FC236}">
                <a16:creationId xmlns:a16="http://schemas.microsoft.com/office/drawing/2014/main" id="{44CBD980-28F1-4DE4-B8AC-ADF9EDC3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38525"/>
            <a:ext cx="3257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5672"/>
                </a:solidFill>
                <a:latin typeface="Arial"/>
                <a:ea typeface="Arial"/>
                <a:cs typeface="Arial"/>
              </a:defRPr>
            </a:pPr>
            <a:r>
              <a:t>Invalid signature: 401 and no audit insert</a:t>
            </a:r>
          </a:p>
        </p:txBody>
      </p:sp>
      <p:sp>
        <p:nvSpPr>
          <p:cNvPr id="34" name="execution-panel">
            <a:extLst xmlns:a="http://schemas.openxmlformats.org/drawingml/2006/main">
              <a:ext uri="{FF2B5EF4-FFF2-40B4-BE49-F238E27FC236}">
                <a16:creationId xmlns:a16="http://schemas.microsoft.com/office/drawing/2014/main" id="{42556B3B-027F-40F4-8F20-0793F9CD3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57350"/>
            <a:ext cx="377190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BC2CC"/>
            </a:solidFill>
            <a:prstDash val="solid"/>
          </a:ln>
        </p:spPr>
      </p:sp>
      <p:sp>
        <p:nvSpPr>
          <p:cNvPr id="35" name="execution-plane">
            <a:extLst xmlns:a="http://schemas.openxmlformats.org/drawingml/2006/main">
              <a:ext uri="{FF2B5EF4-FFF2-40B4-BE49-F238E27FC236}">
                <a16:creationId xmlns:a16="http://schemas.microsoft.com/office/drawing/2014/main" id="{B3CBE287-53BC-4897-8E28-B88159A1D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00225"/>
            <a:ext cx="327660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EXECUTOR INTEGRATION REQUIRED</a:t>
            </a:r>
          </a:p>
        </p:txBody>
      </p:sp>
      <p:sp>
        <p:nvSpPr>
          <p:cNvPr id="36" name="execution-title">
            <a:extLst xmlns:a="http://schemas.openxmlformats.org/drawingml/2006/main">
              <a:ext uri="{FF2B5EF4-FFF2-40B4-BE49-F238E27FC236}">
                <a16:creationId xmlns:a16="http://schemas.microsoft.com/office/drawing/2014/main" id="{8EDBBBF9-2413-4463-A205-9231D4F9B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19300"/>
            <a:ext cx="3276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EXECUTION GATE</a:t>
            </a:r>
          </a:p>
        </p:txBody>
      </p:sp>
      <p:cxnSp>
        <p:nvCxnSpPr>
          <p:cNvPr id="116" name="execution-rule"/>
          <p:cNvCxnSpPr/>
          <p:nvPr/>
        </p:nvCxnSpPr>
        <p:spPr>
          <a:xfrm xmlns:a="http://schemas.openxmlformats.org/drawingml/2006/main">
            <a:off x="8172450" y="2371725"/>
            <a:ext cx="32766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BC2CC"/>
            </a:solidFill>
            <a:prstDash val="solid"/>
          </a:ln>
        </p:spPr>
      </p:cxnSp>
      <p:sp>
        <p:nvSpPr>
          <p:cNvPr id="38" name="execution-route">
            <a:extLst xmlns:a="http://schemas.openxmlformats.org/drawingml/2006/main">
              <a:ext uri="{FF2B5EF4-FFF2-40B4-BE49-F238E27FC236}">
                <a16:creationId xmlns:a16="http://schemas.microsoft.com/office/drawing/2014/main" id="{EF80B0C7-088F-4177-A18D-13CAC130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57450"/>
            <a:ext cx="3276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A5672"/>
                </a:solidFill>
                <a:latin typeface="Arial"/>
                <a:ea typeface="Arial"/>
                <a:cs typeface="Arial"/>
              </a:defRPr>
            </a:pPr>
            <a:r>
              <a:t>POST /verify-token</a:t>
            </a:r>
          </a:p>
        </p:txBody>
      </p:sp>
      <p:sp>
        <p:nvSpPr>
          <p:cNvPr id="39" name="execution-inputs">
            <a:extLst xmlns:a="http://schemas.openxmlformats.org/drawingml/2006/main">
              <a:ext uri="{FF2B5EF4-FFF2-40B4-BE49-F238E27FC236}">
                <a16:creationId xmlns:a16="http://schemas.microsoft.com/office/drawing/2014/main" id="{6282DC5E-9711-403A-86D8-71FF5300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62250"/>
            <a:ext cx="3276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Forward exact action inputs + consume: true</a:t>
            </a:r>
          </a:p>
        </p:txBody>
      </p:sp>
      <p:sp>
        <p:nvSpPr>
          <p:cNvPr id="40" name="execution-proceed">
            <a:extLst xmlns:a="http://schemas.openxmlformats.org/drawingml/2006/main">
              <a:ext uri="{FF2B5EF4-FFF2-40B4-BE49-F238E27FC236}">
                <a16:creationId xmlns:a16="http://schemas.microsoft.com/office/drawing/2014/main" id="{EB7F916C-D69E-4560-A6F2-BE6A074E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48000"/>
            <a:ext cx="32766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Execute only when valid: true</a:t>
            </a:r>
          </a:p>
        </p:txBody>
      </p:sp>
      <p:sp>
        <p:nvSpPr>
          <p:cNvPr id="41" name="execution-stop">
            <a:extLst xmlns:a="http://schemas.openxmlformats.org/drawingml/2006/main">
              <a:ext uri="{FF2B5EF4-FFF2-40B4-BE49-F238E27FC236}">
                <a16:creationId xmlns:a16="http://schemas.microsoft.com/office/drawing/2014/main" id="{085D61AA-7CC1-4EE8-B280-582305F8D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52800"/>
            <a:ext cx="32766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86309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Otherwise stop. The executor creates the enforcement boundary.</a:t>
            </a:r>
          </a:p>
        </p:txBody>
      </p:sp>
      <p:sp>
        <p:nvSpPr>
          <p:cNvPr id="42" name="callback-label">
            <a:extLst xmlns:a="http://schemas.openxmlformats.org/drawingml/2006/main">
              <a:ext uri="{FF2B5EF4-FFF2-40B4-BE49-F238E27FC236}">
                <a16:creationId xmlns:a16="http://schemas.microsoft.com/office/drawing/2014/main" id="{59BD2B06-CD64-464D-A769-D7E05092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86200"/>
            <a:ext cx="2667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101318"/>
            </a:solidFill>
            <a:prstDash val="solid"/>
          </a:ln>
        </p:spPr>
      </p:sp>
      <p:sp>
        <p:nvSpPr>
          <p:cNvPr id="43" name="callback-title">
            <a:extLst xmlns:a="http://schemas.openxmlformats.org/drawingml/2006/main">
              <a:ext uri="{FF2B5EF4-FFF2-40B4-BE49-F238E27FC236}">
                <a16:creationId xmlns:a16="http://schemas.microsoft.com/office/drawing/2014/main" id="{BDA1AEF1-1B22-4F9E-ACED-A19404DD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71925"/>
            <a:ext cx="219075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t>CONFIGURED WEBHOOK</a:t>
            </a:r>
          </a:p>
        </p:txBody>
      </p:sp>
      <p:sp>
        <p:nvSpPr>
          <p:cNvPr id="44" name="callback-direction">
            <a:extLst xmlns:a="http://schemas.openxmlformats.org/drawingml/2006/main">
              <a:ext uri="{FF2B5EF4-FFF2-40B4-BE49-F238E27FC236}">
                <a16:creationId xmlns:a16="http://schemas.microsoft.com/office/drawing/2014/main" id="{CB7DBC4E-DC4D-4B8E-8FE1-FCA7925C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943350"/>
            <a:ext cx="228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t>←</a:t>
            </a:r>
          </a:p>
        </p:txBody>
      </p:sp>
      <p:sp>
        <p:nvSpPr>
          <p:cNvPr id="45" name="callback-body">
            <a:extLst xmlns:a="http://schemas.openxmlformats.org/drawingml/2006/main">
              <a:ext uri="{FF2B5EF4-FFF2-40B4-BE49-F238E27FC236}">
                <a16:creationId xmlns:a16="http://schemas.microsoft.com/office/drawing/2014/main" id="{98C04301-CE0F-45A8-8D6D-BA2F13B2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886200"/>
            <a:ext cx="8534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0">
            <a:solidFill>
              <a:srgbClr val="F3F5F7"/>
            </a:solidFill>
            <a:prstDash val="solid"/>
          </a:ln>
        </p:spPr>
      </p:sp>
      <p:sp>
        <p:nvSpPr>
          <p:cNvPr id="46" name="callback-copy">
            <a:extLst xmlns:a="http://schemas.openxmlformats.org/drawingml/2006/main">
              <a:ext uri="{FF2B5EF4-FFF2-40B4-BE49-F238E27FC236}">
                <a16:creationId xmlns:a16="http://schemas.microsoft.com/office/drawing/2014/main" id="{A514E4EF-A20D-4616-A91F-194E0F19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933825"/>
            <a:ext cx="8096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88542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MTP returns the event, verdict and reason to Cordant, plus an audit ID when one is created.
Receipts and proofs remain separate endpoints.</a:t>
            </a:r>
          </a:p>
        </p:txBody>
      </p:sp>
      <p:sp>
        <p:nvSpPr>
          <p:cNvPr id="47" name="pack-flow-caption">
            <a:extLst xmlns:a="http://schemas.openxmlformats.org/drawingml/2006/main">
              <a:ext uri="{FF2B5EF4-FFF2-40B4-BE49-F238E27FC236}">
                <a16:creationId xmlns:a16="http://schemas.microsoft.com/office/drawing/2014/main" id="{59E988C9-0FF7-4ABE-BFC0-1DD866CDE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933950"/>
            <a:ext cx="361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72270"/>
          </a:bodyPr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EXPORT + ASSEMBLE</a:t>
            </a:r>
          </a:p>
        </p:txBody>
      </p:sp>
      <p:sp>
        <p:nvSpPr>
          <p:cNvPr id="48" name="pack-flow-arrow">
            <a:extLst xmlns:a="http://schemas.openxmlformats.org/drawingml/2006/main">
              <a:ext uri="{FF2B5EF4-FFF2-40B4-BE49-F238E27FC236}">
                <a16:creationId xmlns:a16="http://schemas.microsoft.com/office/drawing/2014/main" id="{BB39C998-677C-4094-B287-78E79AA1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191125"/>
            <a:ext cx="3619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→</a:t>
            </a:r>
          </a:p>
        </p:txBody>
      </p:sp>
      <p:sp>
        <p:nvSpPr>
          <p:cNvPr id="49" name="verify-flow-caption">
            <a:extLst xmlns:a="http://schemas.openxmlformats.org/drawingml/2006/main">
              <a:ext uri="{FF2B5EF4-FFF2-40B4-BE49-F238E27FC236}">
                <a16:creationId xmlns:a16="http://schemas.microsoft.com/office/drawing/2014/main" id="{8227B570-7B12-4825-BD87-41DB12E9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33950"/>
            <a:ext cx="361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78892"/>
          </a:bodyPr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DELIVER PACK</a:t>
            </a:r>
          </a:p>
        </p:txBody>
      </p:sp>
      <p:sp>
        <p:nvSpPr>
          <p:cNvPr id="50" name="verify-flow-arrow">
            <a:extLst xmlns:a="http://schemas.openxmlformats.org/drawingml/2006/main">
              <a:ext uri="{FF2B5EF4-FFF2-40B4-BE49-F238E27FC236}">
                <a16:creationId xmlns:a16="http://schemas.microsoft.com/office/drawing/2014/main" id="{7EB44A39-E415-4867-85C4-9336D5B2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91125"/>
            <a:ext cx="3619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168A68"/>
                </a:solidFill>
                <a:latin typeface="Arial"/>
                <a:ea typeface="Arial"/>
                <a:cs typeface="Arial"/>
              </a:defRPr>
            </a:pPr>
            <a:r>
              <a:t>→</a:t>
            </a:r>
          </a:p>
        </p:txBody>
      </p:sp>
      <p:sp>
        <p:nvSpPr>
          <p:cNvPr id="51" name="evidence-panel">
            <a:extLst xmlns:a="http://schemas.openxmlformats.org/drawingml/2006/main">
              <a:ext uri="{FF2B5EF4-FFF2-40B4-BE49-F238E27FC236}">
                <a16:creationId xmlns:a16="http://schemas.microsoft.com/office/drawing/2014/main" id="{A7067A40-0CDD-42AC-AE2B-174DC575B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91050"/>
            <a:ext cx="3524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D"/>
          </a:solidFill>
          <a:ln xmlns:a="http://schemas.openxmlformats.org/drawingml/2006/main" w="14288">
            <a:solidFill>
              <a:srgbClr val="3D8DFF"/>
            </a:solidFill>
            <a:prstDash val="solid"/>
          </a:ln>
        </p:spPr>
      </p:sp>
      <p:sp>
        <p:nvSpPr>
          <p:cNvPr id="52" name="evidence-plane">
            <a:extLst xmlns:a="http://schemas.openxmlformats.org/drawingml/2006/main">
              <a:ext uri="{FF2B5EF4-FFF2-40B4-BE49-F238E27FC236}">
                <a16:creationId xmlns:a16="http://schemas.microsoft.com/office/drawing/2014/main" id="{6EF60F70-20C5-4D17-912A-759FCC1F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05350"/>
            <a:ext cx="31051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A5672"/>
                </a:solidFill>
                <a:latin typeface="Arial"/>
                <a:ea typeface="Arial"/>
                <a:cs typeface="Arial"/>
              </a:defRPr>
            </a:pPr>
            <a:r>
              <a:t>MTP EVIDENCE PIPELINE</a:t>
            </a:r>
          </a:p>
        </p:txBody>
      </p:sp>
      <p:sp>
        <p:nvSpPr>
          <p:cNvPr id="53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4013EFBA-E069-4DD5-8CD0-DBC3523BD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05375"/>
            <a:ext cx="31051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945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AUDIT, RECEIPT + BASE PROOF</a:t>
            </a:r>
          </a:p>
        </p:txBody>
      </p:sp>
      <p:sp>
        <p:nvSpPr>
          <p:cNvPr id="54" name="evidence-receipt-dot">
            <a:extLst xmlns:a="http://schemas.openxmlformats.org/drawingml/2006/main">
              <a:ext uri="{FF2B5EF4-FFF2-40B4-BE49-F238E27FC236}">
                <a16:creationId xmlns:a16="http://schemas.microsoft.com/office/drawing/2014/main" id="{9CCF44CF-AE1F-4D78-8562-5E0BF20C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959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5" name="evidence-receipt-text">
            <a:extLst xmlns:a="http://schemas.openxmlformats.org/drawingml/2006/main">
              <a:ext uri="{FF2B5EF4-FFF2-40B4-BE49-F238E27FC236}">
                <a16:creationId xmlns:a16="http://schemas.microsoft.com/office/drawing/2014/main" id="{7E3DBD94-FB74-46F4-B6B6-9042AA7E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219700"/>
            <a:ext cx="29432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Audit log → public receipt</a:t>
            </a:r>
          </a:p>
        </p:txBody>
      </p:sp>
      <p:sp>
        <p:nvSpPr>
          <p:cNvPr id="56" name="evidence-anchor-dot">
            <a:extLst xmlns:a="http://schemas.openxmlformats.org/drawingml/2006/main">
              <a:ext uri="{FF2B5EF4-FFF2-40B4-BE49-F238E27FC236}">
                <a16:creationId xmlns:a16="http://schemas.microsoft.com/office/drawing/2014/main" id="{6FC84629-F17C-4A4D-8FE2-012B6EC2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626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7" name="evidence-anchor-text">
            <a:extLst xmlns:a="http://schemas.openxmlformats.org/drawingml/2006/main">
              <a:ext uri="{FF2B5EF4-FFF2-40B4-BE49-F238E27FC236}">
                <a16:creationId xmlns:a16="http://schemas.microsoft.com/office/drawing/2014/main" id="{580886C9-9E91-4CCD-AD64-E06675013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486400"/>
            <a:ext cx="29432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Eligible logs → Merkle root
Base mainnet · chain ID 8453</a:t>
            </a:r>
          </a:p>
        </p:txBody>
      </p:sp>
      <p:sp>
        <p:nvSpPr>
          <p:cNvPr id="58" name="evidence-proof">
            <a:extLst xmlns:a="http://schemas.openxmlformats.org/drawingml/2006/main">
              <a:ext uri="{FF2B5EF4-FFF2-40B4-BE49-F238E27FC236}">
                <a16:creationId xmlns:a16="http://schemas.microsoft.com/office/drawing/2014/main" id="{6B99CFD8-7886-47ED-89E0-3EBD9284E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91200"/>
            <a:ext cx="31051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82333"/>
          </a:bodyPr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0A5672"/>
                </a:solidFill>
                <a:latin typeface="Arial"/>
                <a:ea typeface="Arial"/>
                <a:cs typeface="Arial"/>
              </a:defRPr>
            </a:pPr>
            <a:r>
              <a:t>Proof endpoint reports pending, failed, sandbox or anchored.</a:t>
            </a:r>
          </a:p>
        </p:txBody>
      </p:sp>
      <p:sp>
        <p:nvSpPr>
          <p:cNvPr id="59" name="pack-panel">
            <a:extLst xmlns:a="http://schemas.openxmlformats.org/drawingml/2006/main">
              <a:ext uri="{FF2B5EF4-FFF2-40B4-BE49-F238E27FC236}">
                <a16:creationId xmlns:a16="http://schemas.microsoft.com/office/drawing/2014/main" id="{7CE6EE59-BDC1-48E8-BCC4-5D68C30D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591050"/>
            <a:ext cx="28575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40"/>
          </a:solidFill>
          <a:ln xmlns:a="http://schemas.openxmlformats.org/drawingml/2006/main" w="0">
            <a:solidFill>
              <a:srgbClr val="253040"/>
            </a:solidFill>
            <a:prstDash val="solid"/>
          </a:ln>
        </p:spPr>
      </p:sp>
      <p:sp>
        <p:nvSpPr>
          <p:cNvPr id="60" name="pack-accent">
            <a:extLst xmlns:a="http://schemas.openxmlformats.org/drawingml/2006/main">
              <a:ext uri="{FF2B5EF4-FFF2-40B4-BE49-F238E27FC236}">
                <a16:creationId xmlns:a16="http://schemas.microsoft.com/office/drawing/2014/main" id="{2BFB05AB-31AE-4195-A27F-3E9EB184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591050"/>
            <a:ext cx="6667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61" name="pack-plane">
            <a:extLst xmlns:a="http://schemas.openxmlformats.org/drawingml/2006/main">
              <a:ext uri="{FF2B5EF4-FFF2-40B4-BE49-F238E27FC236}">
                <a16:creationId xmlns:a16="http://schemas.microsoft.com/office/drawing/2014/main" id="{241B3D93-0271-4178-9AD3-186A7F2C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705350"/>
            <a:ext cx="2419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t>OPERATOR RUN  |  OFFLINE</a:t>
            </a:r>
          </a:p>
        </p:txBody>
      </p:sp>
      <p:sp>
        <p:nvSpPr>
          <p:cNvPr id="62" name="pack-title">
            <a:extLst xmlns:a="http://schemas.openxmlformats.org/drawingml/2006/main">
              <a:ext uri="{FF2B5EF4-FFF2-40B4-BE49-F238E27FC236}">
                <a16:creationId xmlns:a16="http://schemas.microsoft.com/office/drawing/2014/main" id="{2A15A543-22BE-4C2B-BA9C-ED5A6C27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905375"/>
            <a:ext cx="24193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EVIDENCE PACK</a:t>
            </a:r>
          </a:p>
        </p:txBody>
      </p:sp>
      <p:sp>
        <p:nvSpPr>
          <p:cNvPr id="63" name="pack-custody-dot">
            <a:extLst xmlns:a="http://schemas.openxmlformats.org/drawingml/2006/main">
              <a:ext uri="{FF2B5EF4-FFF2-40B4-BE49-F238E27FC236}">
                <a16:creationId xmlns:a16="http://schemas.microsoft.com/office/drawing/2014/main" id="{3C082ACB-BA9F-4C76-978D-305F5643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2959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64" name="pack-custody-text">
            <a:extLst xmlns:a="http://schemas.openxmlformats.org/drawingml/2006/main">
              <a:ext uri="{FF2B5EF4-FFF2-40B4-BE49-F238E27FC236}">
                <a16:creationId xmlns:a16="http://schemas.microsoft.com/office/drawing/2014/main" id="{98BE961F-5436-4CAE-B209-9CE0B841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5219700"/>
            <a:ext cx="22574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9E0E9"/>
                </a:solidFill>
                <a:latin typeface="Arial"/>
                <a:ea typeface="Arial"/>
                <a:cs typeface="Arial"/>
              </a:defRPr>
            </a:pPr>
            <a:r>
              <a:t>Recheck custody hashes</a:t>
            </a:r>
          </a:p>
        </p:txBody>
      </p:sp>
      <p:sp>
        <p:nvSpPr>
          <p:cNvPr id="65" name="pack-content-dot">
            <a:extLst xmlns:a="http://schemas.openxmlformats.org/drawingml/2006/main">
              <a:ext uri="{FF2B5EF4-FFF2-40B4-BE49-F238E27FC236}">
                <a16:creationId xmlns:a16="http://schemas.microsoft.com/office/drawing/2014/main" id="{D1308292-3B83-4062-8124-294F4B16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5626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66" name="pack-content-text">
            <a:extLst xmlns:a="http://schemas.openxmlformats.org/drawingml/2006/main">
              <a:ext uri="{FF2B5EF4-FFF2-40B4-BE49-F238E27FC236}">
                <a16:creationId xmlns:a16="http://schemas.microsoft.com/office/drawing/2014/main" id="{03E5C27F-DD11-4A7F-94A9-B25C770D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5486400"/>
            <a:ext cx="22574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9E0E9"/>
                </a:solidFill>
                <a:latin typeface="Arial"/>
                <a:ea typeface="Arial"/>
                <a:cs typeface="Arial"/>
              </a:defRPr>
            </a:pPr>
            <a:r>
              <a:t>Add receipts, proofs and evidence</a:t>
            </a:r>
          </a:p>
        </p:txBody>
      </p:sp>
      <p:sp>
        <p:nvSpPr>
          <p:cNvPr id="67" name="pack-signature">
            <a:extLst xmlns:a="http://schemas.openxmlformats.org/drawingml/2006/main">
              <a:ext uri="{FF2B5EF4-FFF2-40B4-BE49-F238E27FC236}">
                <a16:creationId xmlns:a16="http://schemas.microsoft.com/office/drawing/2014/main" id="{F40A4B62-E72F-4574-83CE-E551D4061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762625"/>
            <a:ext cx="24193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70953"/>
          </a:bodyPr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Sign JCS manifest with a separate Ed25519 key. ZIP is packaging.</a:t>
            </a:r>
          </a:p>
        </p:txBody>
      </p:sp>
      <p:sp>
        <p:nvSpPr>
          <p:cNvPr id="68" name="verify-panel">
            <a:extLst xmlns:a="http://schemas.openxmlformats.org/drawingml/2006/main">
              <a:ext uri="{FF2B5EF4-FFF2-40B4-BE49-F238E27FC236}">
                <a16:creationId xmlns:a16="http://schemas.microsoft.com/office/drawing/2014/main" id="{7A4E1F0E-5F78-41A3-87C3-3BB70F5E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91050"/>
            <a:ext cx="4095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4"/>
          </a:solidFill>
          <a:ln xmlns:a="http://schemas.openxmlformats.org/drawingml/2006/main" w="14288">
            <a:solidFill>
              <a:srgbClr val="168A68"/>
            </a:solidFill>
            <a:prstDash val="solid"/>
          </a:ln>
        </p:spPr>
      </p:sp>
      <p:sp>
        <p:nvSpPr>
          <p:cNvPr id="69" name="verify-accent">
            <a:extLst xmlns:a="http://schemas.openxmlformats.org/drawingml/2006/main">
              <a:ext uri="{FF2B5EF4-FFF2-40B4-BE49-F238E27FC236}">
                <a16:creationId xmlns:a16="http://schemas.microsoft.com/office/drawing/2014/main" id="{DCA6CFBE-0B60-42DA-A318-FA8E7BF3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91050"/>
            <a:ext cx="6667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8"/>
          </a:solidFill>
          <a:ln xmlns:a="http://schemas.openxmlformats.org/drawingml/2006/main" w="0">
            <a:solidFill>
              <a:srgbClr val="168A68"/>
            </a:solidFill>
            <a:prstDash val="solid"/>
          </a:ln>
        </p:spPr>
      </p:sp>
      <p:sp>
        <p:nvSpPr>
          <p:cNvPr id="70" name="verify-plane">
            <a:extLst xmlns:a="http://schemas.openxmlformats.org/drawingml/2006/main">
              <a:ext uri="{FF2B5EF4-FFF2-40B4-BE49-F238E27FC236}">
                <a16:creationId xmlns:a16="http://schemas.microsoft.com/office/drawing/2014/main" id="{7366D98B-CEB1-4777-B0E7-5941E26C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705350"/>
            <a:ext cx="3600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D5D48"/>
                </a:solidFill>
                <a:latin typeface="Arial"/>
                <a:ea typeface="Arial"/>
                <a:cs typeface="Arial"/>
              </a:defRPr>
            </a:pPr>
            <a:r>
              <a:t>INDEPENDENT PUBLIC VERIFIER</a:t>
            </a:r>
          </a:p>
        </p:txBody>
      </p:sp>
      <p:sp>
        <p:nvSpPr>
          <p:cNvPr id="71" name="verify-title">
            <a:extLst xmlns:a="http://schemas.openxmlformats.org/drawingml/2006/main">
              <a:ext uri="{FF2B5EF4-FFF2-40B4-BE49-F238E27FC236}">
                <a16:creationId xmlns:a16="http://schemas.microsoft.com/office/drawing/2014/main" id="{98B7A37B-2E02-401C-B107-7297B201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905375"/>
            <a:ext cx="36004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INNTRIS VERIFY</a:t>
            </a:r>
          </a:p>
        </p:txBody>
      </p:sp>
      <p:sp>
        <p:nvSpPr>
          <p:cNvPr id="72" name="verify-key-dot">
            <a:extLst xmlns:a="http://schemas.openxmlformats.org/drawingml/2006/main">
              <a:ext uri="{FF2B5EF4-FFF2-40B4-BE49-F238E27FC236}">
                <a16:creationId xmlns:a16="http://schemas.microsoft.com/office/drawing/2014/main" id="{41E88C8D-2B5C-4771-881A-34AAC81F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2959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8"/>
          </a:solidFill>
          <a:ln xmlns:a="http://schemas.openxmlformats.org/drawingml/2006/main" w="0">
            <a:solidFill>
              <a:srgbClr val="168A68"/>
            </a:solidFill>
            <a:prstDash val="solid"/>
          </a:ln>
        </p:spPr>
      </p:sp>
      <p:sp>
        <p:nvSpPr>
          <p:cNvPr id="73" name="verify-key-text">
            <a:extLst xmlns:a="http://schemas.openxmlformats.org/drawingml/2006/main">
              <a:ext uri="{FF2B5EF4-FFF2-40B4-BE49-F238E27FC236}">
                <a16:creationId xmlns:a16="http://schemas.microsoft.com/office/drawing/2014/main" id="{D612AB2E-B9DE-4277-A749-74CABF36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219700"/>
            <a:ext cx="343852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Pin the public key out-of-band
from KEYS.md or its mirror</a:t>
            </a:r>
          </a:p>
        </p:txBody>
      </p:sp>
      <p:sp>
        <p:nvSpPr>
          <p:cNvPr id="74" name="verify-manifest-dot">
            <a:extLst xmlns:a="http://schemas.openxmlformats.org/drawingml/2006/main">
              <a:ext uri="{FF2B5EF4-FFF2-40B4-BE49-F238E27FC236}">
                <a16:creationId xmlns:a16="http://schemas.microsoft.com/office/drawing/2014/main" id="{AB01F9AE-C34F-4E66-B061-C7008255E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6483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8"/>
          </a:solidFill>
          <a:ln xmlns:a="http://schemas.openxmlformats.org/drawingml/2006/main" w="0">
            <a:solidFill>
              <a:srgbClr val="168A68"/>
            </a:solidFill>
            <a:prstDash val="solid"/>
          </a:ln>
        </p:spPr>
      </p:sp>
      <p:sp>
        <p:nvSpPr>
          <p:cNvPr id="75" name="verify-manifest-text">
            <a:extLst xmlns:a="http://schemas.openxmlformats.org/drawingml/2006/main">
              <a:ext uri="{FF2B5EF4-FFF2-40B4-BE49-F238E27FC236}">
                <a16:creationId xmlns:a16="http://schemas.microsoft.com/office/drawing/2014/main" id="{FC2F7795-5D4A-450A-A63D-C8885891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572125"/>
            <a:ext cx="34385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Verify manifest signature + every file SHA256</a:t>
            </a:r>
          </a:p>
        </p:txBody>
      </p:sp>
      <p:sp>
        <p:nvSpPr>
          <p:cNvPr id="76" name="verify-final">
            <a:extLst xmlns:a="http://schemas.openxmlformats.org/drawingml/2006/main">
              <a:ext uri="{FF2B5EF4-FFF2-40B4-BE49-F238E27FC236}">
                <a16:creationId xmlns:a16="http://schemas.microsoft.com/office/drawing/2014/main" id="{1D6EF4FB-8D63-4573-8DB3-A2591FFF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838825"/>
            <a:ext cx="36004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65881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D5D48"/>
                </a:solidFill>
                <a:latin typeface="Arial"/>
                <a:ea typeface="Arial"/>
                <a:cs typeface="Arial"/>
              </a:defRPr>
            </a:pPr>
            <a:r>
              <a:t>Check receipts, agent signatures and Merkle proofs. Optional Base RPC is chosen by the verifier.</a:t>
            </a:r>
          </a:p>
        </p:txBody>
      </p:sp>
      <p:sp>
        <p:nvSpPr>
          <p:cNvPr id="77" name="architecture-boundary">
            <a:extLst xmlns:a="http://schemas.openxmlformats.org/drawingml/2006/main">
              <a:ext uri="{FF2B5EF4-FFF2-40B4-BE49-F238E27FC236}">
                <a16:creationId xmlns:a16="http://schemas.microsoft.com/office/drawing/2014/main" id="{A02C464E-8359-41E0-A120-57D462DB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62675"/>
            <a:ext cx="11201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Boundary: Cordant and executor adapters remain integration work. MTP and Inntris Verify are implemented code paths.</a:t>
            </a:r>
          </a:p>
        </p:txBody>
      </p:sp>
      <p:sp>
        <p:nvSpPr>
          <p:cNvPr id="78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2D4C8CAA-CAE8-473B-A6DB-7A0B785F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0572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Code basis: MTP 7e0bf71  |  api/main.py, api/webhooks.py, workers/anchor_worker.py, evidence_pack/  |  Inntris Verify f3e8524  |  Cordant adapter proposed</a:t>
            </a:r>
          </a:p>
        </p:txBody>
      </p:sp>
      <p:sp>
        <p:nvSpPr>
          <p:cNvPr id="7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71E9917-FB1B-4118-B72E-19C31F70C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67475"/>
            <a:ext cx="419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537352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2026-07-23T08:42:00.7350000Z</dcterms:created>
  <dcterms:modified xsi:type="dcterms:W3CDTF">2026-07-23T08:42:00.7350000Z</dcterms:modified>
</coreProperties>
</file>